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這份簡報是書面報告 v10 的重點版，章節順序和報告相同：引言、文獻探討、研究方法、系統設計與實作、結果與討論、結論與建議。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右邊是報告的研究狀態表。重點是只有 RQ1 有結果，RQ2、RQ3 目前只完成設計，報告不提供它們的結果。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 1.2 節。第一個動機是原本的核心問題；後兩個動機來自 RQ1 的結果與系統設計上的反思，報告明確寫成候選假說，RQ2 和 RQ3 分別檢驗它們。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 1.3、1.4 節。要說清楚三題的關係：RQ1、RQ2 是同一條線，RQ2 看模型組合會不會改變 D 減 C；RQ3 是平行的架構延伸，比較的是整套領域化架構，不是單純的分工效果。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 1.5 節。A、B 兩組可以選持有，只作補充對照；C、D 必須下注，這一點在解讀結果時很重要。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報告第二章。每個研究方向都對應到本研究的一個設計。研究缺口是報告 2.8 節的寫法：不是把現成辯論搬到金融，而是在可查核的條件下檢驗自我反駁。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 3.1 節的研究架構圖。重點是三個分支共用上面那一層：同樣的資料、快照、研究代理人和中立報告，分支只在決策層不同；RQ3 的領域組讀的是同一份研究輸出的領域切片，不另外抓資料。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 3.3 節的設計選擇表。每個選擇都有理由，但報告也寫明這些是操作上的選擇，不宣稱最佳；例如三輪、第二輪交換都可以再做消融。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 3.4 節。主要比較是 C 和 D，A、B 只是補充。D 的估計量是整套流程的效果，包含立場交換、交換輪看不到對手、強制引用自己原文與驗證重試，不能歸因於單獨的立場交換。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 3.4 節 RQ2。RQ2 問的是立場交換的效果會不會隨模型組合而變，所以主要比較量是差中之差，而不是分別檢定各條件下的 D 減 C。M1/M1 對 M1/M2 同時改變了模型能力組成，所以結論只限這組模型；加上 M2/M2 對照，可以看是不是單純因為 M2 比較強或比較弱。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 3.4 節 RQ3。通才組和領域組同時改變了分工、呼叫次數和資訊切分，所以設了兩個必要對照來分辨效果來源：一個讓通才組用一樣多的呼叫，一個保留資訊切分但不辯論。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 3.4 節最後的比較表。三個問題比的東西不同，RQ1 的判準不能直接套到 RQ2、RQ3。RQ2、RQ3 的檢定族是提案，正式執行前要鎖定。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報告第四章。左欄是模組實作狀態：RQ1 用到的都已實作，RQ2、RQ3 的三個新模組是原型，還沒有正式結果。中欄是為了可重現與防止模型亂引用證據做的稽核機制。右欄是 4.5 節的實作挑戰。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 5.1 節的表 4、表 5。重點是 D 的準確率和 Sharpe 都略低於 C，差異不顯著。辯論組 Sharpe 雖高於 A、B，但辯論組必須出手，這個差異不能歸因於辯論本身。10/15 用原始資料重算過，結果一致。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 5.1 後半與 5.2 節。案例是結果揭曉後才挑的，只能描述，不能判斷因果。Gemini 是整套換成另一個模型，仍是同一模型設定，所以不是 RQ2；探針是前導階段做的，不是新版 180 案完整的汙染檢驗。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 5.3 節的四種有效性。最後一行是可重現性核對表裡已經確認的項目；不完整的是 FinBERT 版本、Gemini 呼叫設定和行情調整版本。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報告第六章。結論要講得保守：沒有找到 D 優於 C 的證據，也沒有勝過簡單基準；這項研究的價值在於提供一個可以公平比較不同多代理人設計的流程。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77" y="1196274"/>
            <a:ext cx="10566434" cy="438131"/>
          </a:xfrm>
          <a:prstGeom prst="rect">
            <a:avLst/>
          </a:prstGeom>
          <a:noFill/>
          <a:ln/>
        </p:spPr>
        <p:txBody>
          <a:bodyPr wrap="square" lIns="0" tIns="0" rIns="0" bIns="0" rtlCol="0" anchor="t"/>
          <a:lstStyle>
            <a:lvl1pPr algn="l" indent="0" marL="0">
              <a:lnSpc>
                <a:spcPct val="115000"/>
              </a:lnSpc>
              <a:buNone/>
              <a:defRPr lang="en-US" sz="3000" dirty="0">
                <a:solidFill>
                  <a:srgbClr val="1F2A44"/>
                </a:solidFill>
                <a:latin typeface="Georgia" pitchFamily="34" charset="0"/>
                <a:ea typeface="Georgia" pitchFamily="34" charset="-122"/>
                <a:cs typeface="Georgia"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777" y="1939205"/>
            <a:ext cx="10566423" cy="4105995"/>
          </a:xfrm>
          <a:prstGeom prst="rect">
            <a:avLst/>
          </a:prstGeom>
          <a:noFill/>
          <a:ln/>
        </p:spPr>
        <p:txBody>
          <a:bodyPr wrap="square" lIns="0" tIns="0" rIns="0" bIns="0" rtlCol="0" anchor="t"/>
          <a:lstStyle>
            <a:lvl1pPr algn="l" indent="0" marL="0">
              <a:lnSpc>
                <a:spcPct val="140000"/>
              </a:lnSpc>
              <a:buNone/>
              <a:defRPr lang="en-US" sz="1600" dirty="0">
                <a:solidFill>
                  <a:srgbClr val="1F2A44"/>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77" y="1196274"/>
            <a:ext cx="10566434" cy="438131"/>
          </a:xfrm>
          <a:prstGeom prst="rect">
            <a:avLst/>
          </a:prstGeom>
          <a:noFill/>
          <a:ln/>
        </p:spPr>
        <p:txBody>
          <a:bodyPr wrap="square" lIns="0" tIns="0" rIns="0" bIns="0" rtlCol="0" anchor="t"/>
          <a:lstStyle>
            <a:lvl1pPr algn="l" indent="0" marL="0">
              <a:lnSpc>
                <a:spcPct val="115000"/>
              </a:lnSpc>
              <a:buNone/>
              <a:defRPr lang="en-US" sz="3000" dirty="0">
                <a:solidFill>
                  <a:srgbClr val="1F2A44"/>
                </a:solidFill>
                <a:latin typeface="Georgia" pitchFamily="34" charset="0"/>
                <a:ea typeface="Georgia" pitchFamily="34" charset="-122"/>
                <a:cs typeface="Georgia"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777" y="1939205"/>
            <a:ext cx="10566423" cy="4105995"/>
          </a:xfrm>
          <a:prstGeom prst="rect">
            <a:avLst/>
          </a:prstGeom>
          <a:noFill/>
          <a:ln/>
        </p:spPr>
        <p:txBody>
          <a:bodyPr wrap="square" lIns="0" tIns="0" rIns="0" bIns="0" rtlCol="0" anchor="t"/>
          <a:lstStyle>
            <a:lvl1pPr algn="l" indent="0" marL="0">
              <a:lnSpc>
                <a:spcPct val="140000"/>
              </a:lnSpc>
              <a:buNone/>
              <a:defRPr lang="en-US" sz="1600" dirty="0">
                <a:solidFill>
                  <a:srgbClr val="1F2A44"/>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sp>
        <p:nvSpPr>
          <p:cNvPr id="2" name="Text 0"/>
          <p:cNvSpPr/>
          <p:nvPr/>
        </p:nvSpPr>
        <p:spPr>
          <a:xfrm>
            <a:off x="812777" y="812777"/>
            <a:ext cx="10883427" cy="274314"/>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FD1C1"/>
                </a:solidFill>
                <a:latin typeface="Arial" pitchFamily="34" charset="0"/>
                <a:ea typeface="Arial" pitchFamily="34" charset="-122"/>
                <a:cs typeface="Arial" pitchFamily="34" charset="-120"/>
              </a:rPr>
              <a:t>國立陽明交通大學管理科學系 · 專題研究報告</a:t>
            </a:r>
            <a:endParaRPr lang="en-US" sz="1400" dirty="0"/>
          </a:p>
        </p:txBody>
      </p:sp>
      <p:sp>
        <p:nvSpPr>
          <p:cNvPr id="3" name="Text 1"/>
          <p:cNvSpPr/>
          <p:nvPr>
            <p:ph type="title"/>
          </p:nvPr>
        </p:nvSpPr>
        <p:spPr>
          <a:xfrm>
            <a:off x="812777" y="1214061"/>
            <a:ext cx="10883427" cy="1488416"/>
          </a:xfrm>
          <a:prstGeom prst="rect">
            <a:avLst/>
          </a:prstGeom>
          <a:noFill/>
          <a:ln/>
        </p:spPr>
        <p:txBody>
          <a:bodyPr wrap="square" lIns="0" tIns="0" rIns="0" bIns="0" rtlCol="0" anchor="t">
            <a:normAutofit/>
          </a:bodyPr>
          <a:lstStyle/>
          <a:p>
            <a:pPr algn="l" indent="0" marL="0">
              <a:lnSpc>
                <a:spcPts val="5760"/>
              </a:lnSpc>
              <a:buNone/>
            </a:pPr>
            <a:r>
              <a:rPr lang="en-US" sz="4800" b="1" i="0" dirty="0">
                <a:solidFill>
                  <a:srgbClr val="F6F4EF"/>
                </a:solidFill>
                <a:latin typeface="Georgia" pitchFamily="18" charset="0"/>
                <a:ea typeface="Georgia" pitchFamily="18" charset="-122"/>
                <a:cs typeface="Georgia" pitchFamily="18" charset="-120"/>
              </a:rPr>
              <a:t>多代理人立場交換辯論機制</a:t>
            </a:r>
            <a:endParaRPr lang="en-US" sz="4800" dirty="0"/>
          </a:p>
          <a:p>
            <a:pPr algn="l" indent="0" marL="0">
              <a:lnSpc>
                <a:spcPts val="5760"/>
              </a:lnSpc>
              <a:buNone/>
            </a:pPr>
            <a:r>
              <a:rPr lang="en-US" sz="4800" b="1" i="0" dirty="0">
                <a:solidFill>
                  <a:srgbClr val="F6F4EF"/>
                </a:solidFill>
                <a:latin typeface="Georgia" pitchFamily="18" charset="0"/>
                <a:ea typeface="Georgia" pitchFamily="18" charset="-122"/>
                <a:cs typeface="Georgia" pitchFamily="18" charset="-120"/>
              </a:rPr>
              <a:t>應用於投資決策</a:t>
            </a:r>
            <a:endParaRPr lang="en-US" sz="4800" dirty="0"/>
          </a:p>
        </p:txBody>
      </p:sp>
      <p:sp>
        <p:nvSpPr>
          <p:cNvPr id="4" name="Text 2"/>
          <p:cNvSpPr/>
          <p:nvPr/>
        </p:nvSpPr>
        <p:spPr>
          <a:xfrm>
            <a:off x="812777" y="2829446"/>
            <a:ext cx="10883427" cy="34545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2E3"/>
                </a:solidFill>
                <a:latin typeface="Arial" pitchFamily="34" charset="0"/>
                <a:ea typeface="Arial" pitchFamily="34" charset="-122"/>
                <a:cs typeface="Arial" pitchFamily="34" charset="-120"/>
              </a:rPr>
              <a:t>Multi-Agent Role-Switching Debate for Investment Decision-Making</a:t>
            </a:r>
            <a:endParaRPr lang="en-US" sz="1800" dirty="0"/>
          </a:p>
        </p:txBody>
      </p:sp>
      <p:sp>
        <p:nvSpPr>
          <p:cNvPr id="5" name="Text 3"/>
          <p:cNvSpPr/>
          <p:nvPr/>
        </p:nvSpPr>
        <p:spPr>
          <a:xfrm>
            <a:off x="812777" y="5461030"/>
            <a:ext cx="1881979" cy="30988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F"/>
                </a:solidFill>
                <a:latin typeface="Arial" pitchFamily="34" charset="0"/>
                <a:ea typeface="Arial" pitchFamily="34" charset="-122"/>
                <a:cs typeface="Arial" pitchFamily="34" charset="-120"/>
              </a:rPr>
              <a:t>黃岳振</a:t>
            </a:r>
            <a:endParaRPr lang="en-US" sz="1600" dirty="0"/>
          </a:p>
        </p:txBody>
      </p:sp>
      <p:sp>
        <p:nvSpPr>
          <p:cNvPr id="6" name="Text 4"/>
          <p:cNvSpPr/>
          <p:nvPr/>
        </p:nvSpPr>
        <p:spPr>
          <a:xfrm>
            <a:off x="812777" y="5796277"/>
            <a:ext cx="2192597" cy="2743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E3"/>
                </a:solidFill>
                <a:latin typeface="Arial" pitchFamily="34" charset="0"/>
                <a:ea typeface="Arial" pitchFamily="34" charset="-122"/>
                <a:cs typeface="Arial" pitchFamily="34" charset="-120"/>
              </a:rPr>
              <a:t>指導教授：林斯寅 教授</a:t>
            </a:r>
            <a:endParaRPr lang="en-US" sz="1400" dirty="0"/>
          </a:p>
        </p:txBody>
      </p:sp>
      <p:sp>
        <p:nvSpPr>
          <p:cNvPr id="7" name="Text 5"/>
          <p:cNvSpPr/>
          <p:nvPr/>
        </p:nvSpPr>
        <p:spPr>
          <a:xfrm>
            <a:off x="9517333" y="5547364"/>
            <a:ext cx="1861879" cy="52322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2E3"/>
                </a:solidFill>
                <a:latin typeface="Arial" pitchFamily="34" charset="0"/>
                <a:ea typeface="Arial" pitchFamily="34" charset="-122"/>
                <a:cs typeface="Arial" pitchFamily="34" charset="-120"/>
              </a:rPr>
              <a:t>書面報告 v10 重點摘要</a:t>
            </a:r>
            <a:endParaRPr lang="en-US" sz="1400" dirty="0"/>
          </a:p>
          <a:p>
            <a:pPr algn="r" indent="0" marL="0">
              <a:lnSpc>
                <a:spcPts val="1960"/>
              </a:lnSpc>
              <a:buNone/>
            </a:pPr>
            <a:r>
              <a:rPr lang="en-US" sz="1400" dirty="0">
                <a:solidFill>
                  <a:srgbClr val="C9D2E3"/>
                </a:solidFill>
                <a:latin typeface="Arial" pitchFamily="34" charset="0"/>
                <a:ea typeface="Arial" pitchFamily="34" charset="-122"/>
                <a:cs typeface="Arial" pitchFamily="34" charset="-120"/>
              </a:rPr>
              <a:t>中華民國一一五年十月</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777" y="812778"/>
            <a:ext cx="10883427"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44"/>
                </a:solidFill>
                <a:latin typeface="Georgia" pitchFamily="18" charset="0"/>
                <a:ea typeface="Georgia" pitchFamily="18" charset="-122"/>
                <a:cs typeface="Georgia" pitchFamily="18" charset="-120"/>
              </a:rPr>
              <a:t>報告大綱</a:t>
            </a:r>
            <a:endParaRPr lang="en-US" sz="3200" dirty="0"/>
          </a:p>
        </p:txBody>
      </p:sp>
      <p:sp>
        <p:nvSpPr>
          <p:cNvPr id="3" name="Text 1"/>
          <p:cNvSpPr/>
          <p:nvPr/>
        </p:nvSpPr>
        <p:spPr>
          <a:xfrm>
            <a:off x="840837" y="1584878"/>
            <a:ext cx="5118316" cy="2524499"/>
          </a:xfrm>
          <a:prstGeom prst="rect">
            <a:avLst/>
          </a:prstGeom>
          <a:noFill/>
          <a:ln/>
        </p:spPr>
        <p:txBody>
          <a:bodyPr wrap="square" lIns="0" tIns="0" rIns="0" bIns="0" rtlCol="0" anchor="t">
            <a:normAutofit/>
          </a:bodyPr>
          <a:lstStyle/>
          <a:p>
            <a:pPr algn="l" marL="225941" indent="-225941">
              <a:lnSpc>
                <a:spcPts val="3040"/>
              </a:lnSpc>
              <a:buSzPct val="100000"/>
              <a:buFontTx/>
              <a:buAutoNum type="arabicPeriod" startAt="1"/>
            </a:pPr>
            <a:r>
              <a:rPr lang="en-US" sz="1600" dirty="0">
                <a:solidFill>
                  <a:srgbClr val="1F2A44"/>
                </a:solidFill>
                <a:latin typeface="Arial" pitchFamily="34" charset="0"/>
                <a:ea typeface="Arial" pitchFamily="34" charset="-122"/>
                <a:cs typeface="Arial" pitchFamily="34" charset="-120"/>
              </a:rPr>
              <a:t>引言</a:t>
            </a:r>
            <a:endParaRPr lang="en-US" sz="1600" dirty="0"/>
          </a:p>
          <a:p>
            <a:pPr algn="l" marL="225941" indent="-225941">
              <a:lnSpc>
                <a:spcPts val="3040"/>
              </a:lnSpc>
              <a:buSzPct val="100000"/>
              <a:buFontTx/>
              <a:buAutoNum type="arabicPeriod" startAt="1"/>
            </a:pPr>
            <a:r>
              <a:rPr lang="en-US" sz="1600" dirty="0">
                <a:solidFill>
                  <a:srgbClr val="1F2A44"/>
                </a:solidFill>
                <a:latin typeface="Arial" pitchFamily="34" charset="0"/>
                <a:ea typeface="Arial" pitchFamily="34" charset="-122"/>
                <a:cs typeface="Arial" pitchFamily="34" charset="-120"/>
              </a:rPr>
              <a:t>文獻探討</a:t>
            </a:r>
            <a:endParaRPr lang="en-US" sz="1600" dirty="0"/>
          </a:p>
          <a:p>
            <a:pPr algn="l" marL="225941" indent="-225941">
              <a:lnSpc>
                <a:spcPts val="3040"/>
              </a:lnSpc>
              <a:buSzPct val="100000"/>
              <a:buFontTx/>
              <a:buAutoNum type="arabicPeriod" startAt="1"/>
            </a:pPr>
            <a:r>
              <a:rPr lang="en-US" sz="1600" dirty="0">
                <a:solidFill>
                  <a:srgbClr val="1F2A44"/>
                </a:solidFill>
                <a:latin typeface="Arial" pitchFamily="34" charset="0"/>
                <a:ea typeface="Arial" pitchFamily="34" charset="-122"/>
                <a:cs typeface="Arial" pitchFamily="34" charset="-120"/>
              </a:rPr>
              <a:t>研究方法</a:t>
            </a:r>
            <a:endParaRPr lang="en-US" sz="1600" dirty="0"/>
          </a:p>
          <a:p>
            <a:pPr algn="l" marL="225941" indent="-225941">
              <a:lnSpc>
                <a:spcPts val="3040"/>
              </a:lnSpc>
              <a:buSzPct val="100000"/>
              <a:buFontTx/>
              <a:buAutoNum type="arabicPeriod" startAt="1"/>
            </a:pPr>
            <a:r>
              <a:rPr lang="en-US" sz="1600" dirty="0">
                <a:solidFill>
                  <a:srgbClr val="1F2A44"/>
                </a:solidFill>
                <a:latin typeface="Arial" pitchFamily="34" charset="0"/>
                <a:ea typeface="Arial" pitchFamily="34" charset="-122"/>
                <a:cs typeface="Arial" pitchFamily="34" charset="-120"/>
              </a:rPr>
              <a:t>系統設計與實作</a:t>
            </a:r>
            <a:endParaRPr lang="en-US" sz="1600" dirty="0"/>
          </a:p>
          <a:p>
            <a:pPr algn="l" marL="225941" indent="-225941">
              <a:lnSpc>
                <a:spcPts val="3040"/>
              </a:lnSpc>
              <a:buSzPct val="100000"/>
              <a:buFontTx/>
              <a:buAutoNum type="arabicPeriod" startAt="1"/>
            </a:pPr>
            <a:r>
              <a:rPr lang="en-US" sz="1600" dirty="0">
                <a:solidFill>
                  <a:srgbClr val="1F2A44"/>
                </a:solidFill>
                <a:latin typeface="Arial" pitchFamily="34" charset="0"/>
                <a:ea typeface="Arial" pitchFamily="34" charset="-122"/>
                <a:cs typeface="Arial" pitchFamily="34" charset="-120"/>
              </a:rPr>
              <a:t>結果與討論</a:t>
            </a:r>
            <a:endParaRPr lang="en-US" sz="1600" dirty="0"/>
          </a:p>
          <a:p>
            <a:pPr algn="l" marL="225941" indent="-225941">
              <a:lnSpc>
                <a:spcPts val="3040"/>
              </a:lnSpc>
              <a:buSzPct val="100000"/>
              <a:buFontTx/>
              <a:buAutoNum type="arabicPeriod" startAt="1"/>
            </a:pPr>
            <a:r>
              <a:rPr lang="en-US" sz="1600" dirty="0">
                <a:solidFill>
                  <a:srgbClr val="1F2A44"/>
                </a:solidFill>
                <a:latin typeface="Arial" pitchFamily="34" charset="0"/>
                <a:ea typeface="Arial" pitchFamily="34" charset="-122"/>
                <a:cs typeface="Arial" pitchFamily="34" charset="-120"/>
              </a:rPr>
              <a:t>結論與建議</a:t>
            </a:r>
            <a:endParaRPr lang="en-US" sz="1600" dirty="0"/>
          </a:p>
        </p:txBody>
      </p:sp>
      <p:sp>
        <p:nvSpPr>
          <p:cNvPr id="4" name="Text 2"/>
          <p:cNvSpPr/>
          <p:nvPr/>
        </p:nvSpPr>
        <p:spPr>
          <a:xfrm>
            <a:off x="6172241" y="1584878"/>
            <a:ext cx="5363180" cy="26925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44"/>
                </a:solidFill>
                <a:latin typeface="Arial" pitchFamily="34" charset="0"/>
                <a:ea typeface="Arial" pitchFamily="34" charset="-122"/>
                <a:cs typeface="Arial" pitchFamily="34" charset="-120"/>
              </a:rPr>
              <a:t>研究狀態</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182781" y="1940834"/>
          <a:ext cx="5196431" cy="2143143"/>
        </p:xfrm>
        <a:graphic>
          <a:graphicData uri="http://schemas.openxmlformats.org/drawingml/2006/table">
            <a:tbl>
              <a:tblPr/>
              <a:tblGrid>
                <a:gridCol w="2286430"/>
                <a:gridCol w="2910001"/>
              </a:tblGrid>
              <a:tr h="357191">
                <a:tc>
                  <a:txBody>
                    <a:bodyPr/>
                    <a:lstStyle/>
                    <a:p>
                      <a:pPr indent="0" marL="0">
                        <a:lnSpc>
                          <a:spcPts val="1820"/>
                        </a:lnSpc>
                        <a:buNone/>
                      </a:pPr>
                      <a:r>
                        <a:rPr lang="en-US" sz="1300" b="1" dirty="0">
                          <a:solidFill>
                            <a:srgbClr val="1F2A44"/>
                          </a:solidFill>
                          <a:latin typeface="Arial" pitchFamily="34" charset="0"/>
                          <a:ea typeface="Arial" pitchFamily="34" charset="-122"/>
                          <a:cs typeface="Arial" pitchFamily="34" charset="-120"/>
                        </a:rPr>
                        <a:t>項目</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820"/>
                        </a:lnSpc>
                        <a:buNone/>
                      </a:pPr>
                      <a:r>
                        <a:rPr lang="en-US" sz="1300" b="1" dirty="0">
                          <a:solidFill>
                            <a:srgbClr val="1F2A44"/>
                          </a:solidFill>
                          <a:latin typeface="Arial" pitchFamily="34" charset="0"/>
                          <a:ea typeface="Arial" pitchFamily="34" charset="-122"/>
                          <a:cs typeface="Arial" pitchFamily="34" charset="-120"/>
                        </a:rPr>
                        <a:t>狀態</a:t>
                      </a:r>
                      <a:endParaRPr lang="en-US" sz="1300" dirty="0">
                        <a:latin typeface="Arial" charset="0"/>
                        <a:ea typeface="Arial" charset="0"/>
                        <a:cs typeface="Arial"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57191">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RQ1：D 對 C</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已完成 180 案（回溯比較）</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7191">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Gemini 3 Flash 同批比較</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已報告（探索性）</a:t>
                      </a:r>
                      <a:endParaRPr lang="en-US" sz="1300" dirty="0">
                        <a:latin typeface="Arial" charset="0"/>
                        <a:ea typeface="Arial" charset="0"/>
                        <a:cs typeface="Arial" charset="0"/>
                      </a:endParaRPr>
                    </a:p>
                  </a:txBody>
                  <a:tcPr marL="57785" marR="57785" marT="57785" marB="57785"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57191">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RQ2：模型組成</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設計階段，未執行</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7191">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RQ3：領域分工</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設計階段，未執行</a:t>
                      </a:r>
                      <a:endParaRPr lang="en-US" sz="1300" dirty="0">
                        <a:latin typeface="Arial" charset="0"/>
                        <a:ea typeface="Arial" charset="0"/>
                        <a:cs typeface="Arial" charset="0"/>
                      </a:endParaRPr>
                    </a:p>
                  </a:txBody>
                  <a:tcPr marL="57785" marR="57785" marT="57785" marB="57785"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57191">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月度／20 日設定</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未執行（未來研究）</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6" name="Text 3"/>
          <p:cNvSpPr/>
          <p:nvPr/>
        </p:nvSpPr>
        <p:spPr>
          <a:xfrm>
            <a:off x="812777" y="6238237"/>
            <a:ext cx="135569"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77" y="812777"/>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A6B"/>
                </a:solidFill>
                <a:latin typeface="Arial" pitchFamily="34" charset="0"/>
                <a:ea typeface="Arial" pitchFamily="34" charset="-122"/>
                <a:cs typeface="Arial" pitchFamily="34" charset="-120"/>
              </a:rPr>
              <a:t>第一章 引言</a:t>
            </a:r>
            <a:endParaRPr lang="en-US" sz="1300" dirty="0"/>
          </a:p>
        </p:txBody>
      </p:sp>
      <p:sp>
        <p:nvSpPr>
          <p:cNvPr id="3" name="Text 1"/>
          <p:cNvSpPr/>
          <p:nvPr>
            <p:ph type="title"/>
          </p:nvPr>
        </p:nvSpPr>
        <p:spPr>
          <a:xfrm>
            <a:off x="812777" y="1247079"/>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44"/>
                </a:solidFill>
                <a:latin typeface="Georgia" pitchFamily="18" charset="0"/>
                <a:ea typeface="Georgia" pitchFamily="18" charset="-122"/>
                <a:cs typeface="Georgia" pitchFamily="18" charset="-120"/>
              </a:rPr>
              <a:t>研究背景與動機</a:t>
            </a:r>
            <a:endParaRPr lang="en-US" sz="3000" dirty="0"/>
          </a:p>
        </p:txBody>
      </p:sp>
      <p:sp>
        <p:nvSpPr>
          <p:cNvPr id="4" name="Shape 2"/>
          <p:cNvSpPr/>
          <p:nvPr/>
        </p:nvSpPr>
        <p:spPr>
          <a:xfrm>
            <a:off x="815952" y="1891559"/>
            <a:ext cx="3397253" cy="1667785"/>
          </a:xfrm>
          <a:prstGeom prst="roundRect">
            <a:avLst>
              <a:gd name="adj" fmla="val 5902"/>
            </a:avLst>
          </a:prstGeom>
          <a:solidFill>
            <a:srgbClr val="FFFDF8"/>
          </a:solidFill>
          <a:ln w="6350">
            <a:solidFill>
              <a:srgbClr val="DDD7CA"/>
            </a:solidFill>
            <a:prstDash val="solid"/>
          </a:ln>
        </p:spPr>
      </p:sp>
      <p:sp>
        <p:nvSpPr>
          <p:cNvPr id="5" name="Text 3"/>
          <p:cNvSpPr/>
          <p:nvPr/>
        </p:nvSpPr>
        <p:spPr>
          <a:xfrm>
            <a:off x="1021221" y="2096827"/>
            <a:ext cx="3076317" cy="25397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44"/>
                </a:solidFill>
                <a:latin typeface="Arial" pitchFamily="34" charset="0"/>
                <a:ea typeface="Arial" pitchFamily="34" charset="-122"/>
                <a:cs typeface="Arial" pitchFamily="34" charset="-120"/>
              </a:rPr>
              <a:t>自我反駁有沒有額外價值</a:t>
            </a:r>
            <a:endParaRPr lang="en-US" sz="1500" dirty="0"/>
          </a:p>
        </p:txBody>
      </p:sp>
      <p:sp>
        <p:nvSpPr>
          <p:cNvPr id="6" name="Text 4"/>
          <p:cNvSpPr/>
          <p:nvPr/>
        </p:nvSpPr>
        <p:spPr>
          <a:xfrm>
            <a:off x="1021221" y="2401567"/>
            <a:ext cx="3076317" cy="977908"/>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568"/>
                </a:solidFill>
                <a:latin typeface="Arial" pitchFamily="34" charset="0"/>
                <a:ea typeface="Arial" pitchFamily="34" charset="-122"/>
                <a:cs typeface="Arial" pitchFamily="34" charset="-120"/>
              </a:rPr>
              <a:t>辯論效果仍有爭議，角色常「死守立場」；立場交換被提出來緩和此問題，但既有研究是問答與事實查核，不是預測股價。</a:t>
            </a:r>
            <a:endParaRPr lang="en-US" sz="1250" dirty="0"/>
          </a:p>
        </p:txBody>
      </p:sp>
      <p:sp>
        <p:nvSpPr>
          <p:cNvPr id="7" name="Shape 5"/>
          <p:cNvSpPr/>
          <p:nvPr/>
        </p:nvSpPr>
        <p:spPr>
          <a:xfrm>
            <a:off x="4397327" y="1891559"/>
            <a:ext cx="3397294" cy="1667785"/>
          </a:xfrm>
          <a:prstGeom prst="roundRect">
            <a:avLst>
              <a:gd name="adj" fmla="val 5902"/>
            </a:avLst>
          </a:prstGeom>
          <a:solidFill>
            <a:srgbClr val="FFFDF8"/>
          </a:solidFill>
          <a:ln w="6350">
            <a:solidFill>
              <a:srgbClr val="DDD7CA"/>
            </a:solidFill>
            <a:prstDash val="solid"/>
          </a:ln>
        </p:spPr>
      </p:sp>
      <p:sp>
        <p:nvSpPr>
          <p:cNvPr id="8" name="Text 6"/>
          <p:cNvSpPr/>
          <p:nvPr/>
        </p:nvSpPr>
        <p:spPr>
          <a:xfrm>
            <a:off x="4602595" y="2096827"/>
            <a:ext cx="3076360" cy="482551"/>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44"/>
                </a:solidFill>
                <a:latin typeface="Arial" pitchFamily="34" charset="0"/>
                <a:ea typeface="Arial" pitchFamily="34" charset="-122"/>
                <a:cs typeface="Arial" pitchFamily="34" charset="-120"/>
              </a:rPr>
              <a:t>同一模型扮演雙方，想法可能不夠多元</a:t>
            </a:r>
            <a:endParaRPr lang="en-US" sz="1500" dirty="0"/>
          </a:p>
        </p:txBody>
      </p:sp>
      <p:sp>
        <p:nvSpPr>
          <p:cNvPr id="9" name="Text 7"/>
          <p:cNvSpPr/>
          <p:nvPr/>
        </p:nvSpPr>
        <p:spPr>
          <a:xfrm>
            <a:off x="4602595" y="2630143"/>
            <a:ext cx="3076360" cy="739781"/>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568"/>
                </a:solidFill>
                <a:latin typeface="Arial" pitchFamily="34" charset="0"/>
                <a:ea typeface="Arial" pitchFamily="34" charset="-122"/>
                <a:cs typeface="Arial" pitchFamily="34" charset="-120"/>
              </a:rPr>
              <a:t>看多與看空若是同一個模型，可能有相同的知識盲點與推理習慣；角色不同，不保證想法不同。</a:t>
            </a:r>
            <a:endParaRPr lang="en-US" sz="1250" dirty="0"/>
          </a:p>
        </p:txBody>
      </p:sp>
      <p:sp>
        <p:nvSpPr>
          <p:cNvPr id="10" name="Shape 8"/>
          <p:cNvSpPr/>
          <p:nvPr/>
        </p:nvSpPr>
        <p:spPr>
          <a:xfrm>
            <a:off x="7978742" y="1891559"/>
            <a:ext cx="3397253" cy="1667785"/>
          </a:xfrm>
          <a:prstGeom prst="roundRect">
            <a:avLst>
              <a:gd name="adj" fmla="val 5902"/>
            </a:avLst>
          </a:prstGeom>
          <a:solidFill>
            <a:srgbClr val="FFFDF8"/>
          </a:solidFill>
          <a:ln w="6350">
            <a:solidFill>
              <a:srgbClr val="DDD7CA"/>
            </a:solidFill>
            <a:prstDash val="solid"/>
          </a:ln>
        </p:spPr>
      </p:sp>
      <p:sp>
        <p:nvSpPr>
          <p:cNvPr id="11" name="Text 9"/>
          <p:cNvSpPr/>
          <p:nvPr/>
        </p:nvSpPr>
        <p:spPr>
          <a:xfrm>
            <a:off x="8184011" y="2096827"/>
            <a:ext cx="3076317" cy="25397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44"/>
                </a:solidFill>
                <a:latin typeface="Arial" pitchFamily="34" charset="0"/>
                <a:ea typeface="Arial" pitchFamily="34" charset="-122"/>
                <a:cs typeface="Arial" pitchFamily="34" charset="-120"/>
              </a:rPr>
              <a:t>資訊集中處理</a:t>
            </a:r>
            <a:endParaRPr lang="en-US" sz="1500" dirty="0"/>
          </a:p>
        </p:txBody>
      </p:sp>
      <p:sp>
        <p:nvSpPr>
          <p:cNvPr id="12" name="Text 10"/>
          <p:cNvSpPr/>
          <p:nvPr/>
        </p:nvSpPr>
        <p:spPr>
          <a:xfrm>
            <a:off x="8184011" y="2401567"/>
            <a:ext cx="3076317" cy="739781"/>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568"/>
                </a:solidFill>
                <a:latin typeface="Arial" pitchFamily="34" charset="0"/>
                <a:ea typeface="Arial" pitchFamily="34" charset="-122"/>
                <a:cs typeface="Arial" pitchFamily="34" charset="-120"/>
              </a:rPr>
              <a:t>四類資訊只在整理層分工，判斷仍由同一組多空負責；某類資訊的反面證據可能被稀釋。</a:t>
            </a:r>
            <a:endParaRPr lang="en-US" sz="1250" dirty="0"/>
          </a:p>
        </p:txBody>
      </p:sp>
      <p:sp>
        <p:nvSpPr>
          <p:cNvPr id="13" name="Text 11"/>
          <p:cNvSpPr/>
          <p:nvPr/>
        </p:nvSpPr>
        <p:spPr>
          <a:xfrm>
            <a:off x="812777" y="3765693"/>
            <a:ext cx="10883427" cy="520675"/>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Arial" pitchFamily="34" charset="0"/>
                <a:ea typeface="Arial" pitchFamily="34" charset="-122"/>
                <a:cs typeface="Arial" pitchFamily="34" charset="-120"/>
              </a:rPr>
              <a:t>RQ1 沒有找到 D 優於 C 的證據。後兩項是</a:t>
            </a:r>
            <a:r>
              <a:rPr lang="en-US" sz="1300" b="1" dirty="0">
                <a:solidFill>
                  <a:srgbClr val="4A5568"/>
                </a:solidFill>
                <a:latin typeface="Arial" pitchFamily="34" charset="0"/>
                <a:ea typeface="Arial" pitchFamily="34" charset="-122"/>
                <a:cs typeface="Arial" pitchFamily="34" charset="-120"/>
              </a:rPr>
              <a:t>候選假說</a:t>
            </a:r>
            <a:r>
              <a:rPr lang="en-US" sz="1300" dirty="0">
                <a:solidFill>
                  <a:srgbClr val="4A5568"/>
                </a:solidFill>
                <a:latin typeface="Arial" pitchFamily="34" charset="0"/>
                <a:ea typeface="Arial" pitchFamily="34" charset="-122"/>
                <a:cs typeface="Arial" pitchFamily="34" charset="-120"/>
              </a:rPr>
              <a:t>，不是 RQ1 結果的已證實原因；RQ2、RQ3 在受控條件下檢驗它們。另需控制回測的前視偏差與呼叫次數差異。</a:t>
            </a:r>
            <a:endParaRPr lang="en-US" sz="1300" dirty="0"/>
          </a:p>
        </p:txBody>
      </p:sp>
      <p:sp>
        <p:nvSpPr>
          <p:cNvPr id="14" name="Text 12"/>
          <p:cNvSpPr/>
          <p:nvPr/>
        </p:nvSpPr>
        <p:spPr>
          <a:xfrm>
            <a:off x="812777" y="6238236"/>
            <a:ext cx="135569"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77" y="812778"/>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A6B"/>
                </a:solidFill>
                <a:latin typeface="Arial" pitchFamily="34" charset="0"/>
                <a:ea typeface="Arial" pitchFamily="34" charset="-122"/>
                <a:cs typeface="Arial" pitchFamily="34" charset="-120"/>
              </a:rPr>
              <a:t>第一章 引言</a:t>
            </a:r>
            <a:endParaRPr lang="en-US" sz="1300" dirty="0"/>
          </a:p>
        </p:txBody>
      </p:sp>
      <p:sp>
        <p:nvSpPr>
          <p:cNvPr id="3" name="Text 1"/>
          <p:cNvSpPr/>
          <p:nvPr>
            <p:ph type="title"/>
          </p:nvPr>
        </p:nvSpPr>
        <p:spPr>
          <a:xfrm>
            <a:off x="812777" y="1221677"/>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44"/>
                </a:solidFill>
                <a:latin typeface="Georgia" pitchFamily="18" charset="0"/>
                <a:ea typeface="Georgia" pitchFamily="18" charset="-122"/>
                <a:cs typeface="Georgia" pitchFamily="18" charset="-120"/>
              </a:rPr>
              <a:t>研究目的與研究問題</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17" y="1848120"/>
          <a:ext cx="10555895" cy="2122147"/>
        </p:xfrm>
        <a:graphic>
          <a:graphicData uri="http://schemas.openxmlformats.org/drawingml/2006/table">
            <a:tbl>
              <a:tblPr/>
              <a:tblGrid>
                <a:gridCol w="1900061"/>
                <a:gridCol w="8655834"/>
              </a:tblGrid>
              <a:tr h="357191">
                <a:tc>
                  <a:txBody>
                    <a:bodyPr/>
                    <a:lstStyle/>
                    <a:p>
                      <a:pPr indent="0" marL="0">
                        <a:lnSpc>
                          <a:spcPts val="1820"/>
                        </a:lnSpc>
                        <a:buNone/>
                      </a:pPr>
                      <a:r>
                        <a:rPr lang="en-US" sz="1300" b="1" dirty="0">
                          <a:solidFill>
                            <a:srgbClr val="1F2A44"/>
                          </a:solidFill>
                          <a:latin typeface="Arial" pitchFamily="34" charset="0"/>
                          <a:ea typeface="Arial" pitchFamily="34" charset="-122"/>
                          <a:cs typeface="Arial" pitchFamily="34" charset="-120"/>
                        </a:rPr>
                        <a:t>問題</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820"/>
                        </a:lnSpc>
                        <a:buNone/>
                      </a:pPr>
                      <a:r>
                        <a:rPr lang="en-US" sz="1300" b="1" dirty="0">
                          <a:solidFill>
                            <a:srgbClr val="1F2A44"/>
                          </a:solidFill>
                          <a:latin typeface="Arial" pitchFamily="34" charset="0"/>
                          <a:ea typeface="Arial" pitchFamily="34" charset="-122"/>
                          <a:cs typeface="Arial" pitchFamily="34" charset="-120"/>
                        </a:rPr>
                        <a:t>內容</a:t>
                      </a:r>
                      <a:endParaRPr lang="en-US" sz="1300" dirty="0">
                        <a:latin typeface="Arial" charset="0"/>
                        <a:ea typeface="Arial" charset="0"/>
                        <a:cs typeface="Arial"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588319">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RQ1</a:t>
                      </a:r>
                      <a:endParaRPr lang="en-US" sz="1300" dirty="0">
                        <a:latin typeface="Arial" charset="0"/>
                        <a:ea typeface="Arial" charset="0"/>
                        <a:cs typeface="Arial" charset="0"/>
                      </a:endParaRPr>
                    </a:p>
                    <a:p>
                      <a:pPr indent="0" marL="0">
                        <a:lnSpc>
                          <a:spcPts val="1820"/>
                        </a:lnSpc>
                        <a:buNone/>
                      </a:pPr>
                      <a:r>
                        <a:rPr lang="en-US" sz="1300" dirty="0">
                          <a:solidFill>
                            <a:srgbClr val="1F2A44"/>
                          </a:solidFill>
                          <a:latin typeface="Arial" pitchFamily="34" charset="0"/>
                          <a:ea typeface="Arial" pitchFamily="34" charset="-122"/>
                          <a:cs typeface="Arial" pitchFamily="34" charset="-120"/>
                        </a:rPr>
                        <a:t>原始機制</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相同案例資料與相同預定決策呼叫次數下，自我反駁式立場交換辯論（D）的 60 日方向準確率與年化 Sharpe，是否高於固定立場辯論（C）？</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88319">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RQ2</a:t>
                      </a:r>
                      <a:endParaRPr lang="en-US" sz="1300" dirty="0">
                        <a:latin typeface="Arial" charset="0"/>
                        <a:ea typeface="Arial" charset="0"/>
                        <a:cs typeface="Arial" charset="0"/>
                      </a:endParaRPr>
                    </a:p>
                    <a:p>
                      <a:pPr indent="0" marL="0">
                        <a:lnSpc>
                          <a:spcPts val="1820"/>
                        </a:lnSpc>
                        <a:buNone/>
                      </a:pPr>
                      <a:r>
                        <a:rPr lang="en-US" sz="1300" dirty="0">
                          <a:solidFill>
                            <a:srgbClr val="1F2A44"/>
                          </a:solidFill>
                          <a:latin typeface="Arial" pitchFamily="34" charset="0"/>
                          <a:ea typeface="Arial" pitchFamily="34" charset="-122"/>
                          <a:cs typeface="Arial" pitchFamily="34" charset="-120"/>
                        </a:rPr>
                        <a:t>模型異質性</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看多與看空代理人由不同的基礎模型擔任時，D 相對於 C 的投資決策效果是否會改變？</a:t>
                      </a:r>
                      <a:endParaRPr lang="en-US" sz="1300" dirty="0">
                        <a:latin typeface="Arial" charset="0"/>
                        <a:ea typeface="Arial" charset="0"/>
                        <a:cs typeface="Arial" charset="0"/>
                      </a:endParaRPr>
                    </a:p>
                  </a:txBody>
                  <a:tcPr marL="57785" marR="57785" marT="57785" marB="57785"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588319">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RQ3</a:t>
                      </a:r>
                      <a:endParaRPr lang="en-US" sz="1300" dirty="0">
                        <a:latin typeface="Arial" charset="0"/>
                        <a:ea typeface="Arial" charset="0"/>
                        <a:cs typeface="Arial" charset="0"/>
                      </a:endParaRPr>
                    </a:p>
                    <a:p>
                      <a:pPr indent="0" marL="0">
                        <a:lnSpc>
                          <a:spcPts val="1820"/>
                        </a:lnSpc>
                        <a:buNone/>
                      </a:pPr>
                      <a:r>
                        <a:rPr lang="en-US" sz="1300" dirty="0">
                          <a:solidFill>
                            <a:srgbClr val="1F2A44"/>
                          </a:solidFill>
                          <a:latin typeface="Arial" pitchFamily="34" charset="0"/>
                          <a:ea typeface="Arial" pitchFamily="34" charset="-122"/>
                          <a:cs typeface="Arial" pitchFamily="34" charset="-120"/>
                        </a:rPr>
                        <a:t>領域專業化</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改由技術、基本、情緒、總經代理人在各自資訊範圍內多空辯論，再由上層整合，方向準確率與風險調整後績效是否更好？</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777" y="4148038"/>
            <a:ext cx="10883427" cy="520675"/>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Arial" pitchFamily="34" charset="0"/>
                <a:ea typeface="Arial" pitchFamily="34" charset="-122"/>
                <a:cs typeface="Arial" pitchFamily="34" charset="-120"/>
              </a:rPr>
              <a:t>RQ1 與 RQ2 是主要研究線：先比較整套 C、D 流程，再檢驗模型組合是否改變兩者差異。RQ3 是平行的系統架構延伸，評估資訊分工與額外成本的取捨，不直接檢驗立場交換本身。</a:t>
            </a:r>
            <a:endParaRPr lang="en-US" sz="1300" dirty="0"/>
          </a:p>
        </p:txBody>
      </p:sp>
      <p:sp>
        <p:nvSpPr>
          <p:cNvPr id="6" name="Text 3"/>
          <p:cNvSpPr/>
          <p:nvPr/>
        </p:nvSpPr>
        <p:spPr>
          <a:xfrm>
            <a:off x="812777" y="6238236"/>
            <a:ext cx="135569"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77" y="812778"/>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A6B"/>
                </a:solidFill>
                <a:latin typeface="Arial" pitchFamily="34" charset="0"/>
                <a:ea typeface="Arial" pitchFamily="34" charset="-122"/>
                <a:cs typeface="Arial" pitchFamily="34" charset="-120"/>
              </a:rPr>
              <a:t>第一章 引言</a:t>
            </a:r>
            <a:endParaRPr lang="en-US" sz="1300" dirty="0"/>
          </a:p>
        </p:txBody>
      </p:sp>
      <p:sp>
        <p:nvSpPr>
          <p:cNvPr id="3" name="Text 1"/>
          <p:cNvSpPr/>
          <p:nvPr>
            <p:ph type="title"/>
          </p:nvPr>
        </p:nvSpPr>
        <p:spPr>
          <a:xfrm>
            <a:off x="812777" y="1221677"/>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44"/>
                </a:solidFill>
                <a:latin typeface="Georgia" pitchFamily="18" charset="0"/>
                <a:ea typeface="Georgia" pitchFamily="18" charset="-122"/>
                <a:cs typeface="Georgia" pitchFamily="18" charset="-120"/>
              </a:rPr>
              <a:t>研究範圍</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17" y="1848120"/>
          <a:ext cx="10555895" cy="2143143"/>
        </p:xfrm>
        <a:graphic>
          <a:graphicData uri="http://schemas.openxmlformats.org/drawingml/2006/table">
            <a:tbl>
              <a:tblPr/>
              <a:tblGrid>
                <a:gridCol w="2111179"/>
                <a:gridCol w="8444716"/>
              </a:tblGrid>
              <a:tr h="357191">
                <a:tc>
                  <a:txBody>
                    <a:bodyPr/>
                    <a:lstStyle/>
                    <a:p>
                      <a:pPr indent="0" marL="0">
                        <a:lnSpc>
                          <a:spcPts val="1820"/>
                        </a:lnSpc>
                        <a:buNone/>
                      </a:pPr>
                      <a:r>
                        <a:rPr lang="en-US" sz="1300" b="1" dirty="0">
                          <a:solidFill>
                            <a:srgbClr val="1F2A44"/>
                          </a:solidFill>
                          <a:latin typeface="Arial" pitchFamily="34" charset="0"/>
                          <a:ea typeface="Arial" pitchFamily="34" charset="-122"/>
                          <a:cs typeface="Arial" pitchFamily="34" charset="-120"/>
                        </a:rPr>
                        <a:t>項目</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820"/>
                        </a:lnSpc>
                        <a:buNone/>
                      </a:pPr>
                      <a:r>
                        <a:rPr lang="en-US" sz="1300" b="1" dirty="0">
                          <a:solidFill>
                            <a:srgbClr val="1F2A44"/>
                          </a:solidFill>
                          <a:latin typeface="Arial" pitchFamily="34" charset="0"/>
                          <a:ea typeface="Arial" pitchFamily="34" charset="-122"/>
                          <a:cs typeface="Arial" pitchFamily="34" charset="-120"/>
                        </a:rPr>
                        <a:t>說明</a:t>
                      </a:r>
                      <a:endParaRPr lang="en-US" sz="1300" dirty="0">
                        <a:latin typeface="Arial" charset="0"/>
                        <a:ea typeface="Arial" charset="0"/>
                        <a:cs typeface="Arial"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57191">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標的與期間</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九檔美國大型股；2021–2025 年每季一個分析日，共 180 個案例</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7191">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資料</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技術面、基本面、情緒面（新聞標題）、總經面；只用分析日以前已公開的資料</a:t>
                      </a:r>
                      <a:endParaRPr lang="en-US" sz="1300" dirty="0">
                        <a:latin typeface="Arial" charset="0"/>
                        <a:ea typeface="Arial" charset="0"/>
                        <a:cs typeface="Arial" charset="0"/>
                      </a:endParaRPr>
                    </a:p>
                  </a:txBody>
                  <a:tcPr marL="57785" marR="57785" marT="57785" marB="57785"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57191">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決策輸出</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買進、持有或賣出，附預期報酬、信心度、理由、引用證據與風險</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7191">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評估</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60 個交易日後的方向準確率與 Sharpe；30 與 90 日檢查穩健性</a:t>
                      </a:r>
                      <a:endParaRPr lang="en-US" sz="1300" dirty="0">
                        <a:latin typeface="Arial" charset="0"/>
                        <a:ea typeface="Arial" charset="0"/>
                        <a:cs typeface="Arial" charset="0"/>
                      </a:endParaRPr>
                    </a:p>
                  </a:txBody>
                  <a:tcPr marL="57785" marR="57785" marT="57785" marB="57785"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57191">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決策層</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F2A44"/>
                          </a:solidFill>
                          <a:latin typeface="Arial" pitchFamily="34" charset="0"/>
                          <a:ea typeface="Arial" pitchFamily="34" charset="-122"/>
                          <a:cs typeface="Arial" pitchFamily="34" charset="-120"/>
                        </a:rPr>
                        <a:t>C、D 的候選決策只能選買進或賣出；守門員之後可降為持有。主要分析用守門員之前的候選決策</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777" y="4169035"/>
            <a:ext cx="10883427" cy="273037"/>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Arial" pitchFamily="34" charset="0"/>
                <a:ea typeface="Arial" pitchFamily="34" charset="-122"/>
                <a:cs typeface="Arial" pitchFamily="34" charset="-120"/>
              </a:rPr>
              <a:t>本專題是投資決策輔助的研究與系統原型，不是自動下單的交易系統。月度（約 20 個交易日）比較列為未來研究。</a:t>
            </a:r>
            <a:endParaRPr lang="en-US" sz="1300" dirty="0"/>
          </a:p>
        </p:txBody>
      </p:sp>
      <p:sp>
        <p:nvSpPr>
          <p:cNvPr id="6" name="Text 3"/>
          <p:cNvSpPr/>
          <p:nvPr/>
        </p:nvSpPr>
        <p:spPr>
          <a:xfrm>
            <a:off x="812777" y="6238236"/>
            <a:ext cx="135569"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77" y="812775"/>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A6B"/>
                </a:solidFill>
                <a:latin typeface="Arial" pitchFamily="34" charset="0"/>
                <a:ea typeface="Arial" pitchFamily="34" charset="-122"/>
                <a:cs typeface="Arial" pitchFamily="34" charset="-120"/>
              </a:rPr>
              <a:t>第二章 文獻探討</a:t>
            </a:r>
            <a:endParaRPr lang="en-US" sz="1300" dirty="0"/>
          </a:p>
        </p:txBody>
      </p:sp>
      <p:sp>
        <p:nvSpPr>
          <p:cNvPr id="3" name="Text 1"/>
          <p:cNvSpPr/>
          <p:nvPr>
            <p:ph type="title"/>
          </p:nvPr>
        </p:nvSpPr>
        <p:spPr>
          <a:xfrm>
            <a:off x="812777" y="1196274"/>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44"/>
                </a:solidFill>
                <a:latin typeface="Georgia" pitchFamily="18" charset="0"/>
                <a:ea typeface="Georgia" pitchFamily="18" charset="-122"/>
                <a:cs typeface="Georgia" pitchFamily="18" charset="-120"/>
              </a:rPr>
              <a:t>文獻重點與本研究的對應</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17" y="1797314"/>
          <a:ext cx="10555895" cy="3476474"/>
        </p:xfrm>
        <a:graphic>
          <a:graphicData uri="http://schemas.openxmlformats.org/drawingml/2006/table">
            <a:tbl>
              <a:tblPr/>
              <a:tblGrid>
                <a:gridCol w="2111179"/>
                <a:gridCol w="4855712"/>
                <a:gridCol w="3589004"/>
              </a:tblGrid>
              <a:tr h="330512">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方向</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重點</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本研究的對應</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757198">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多代理人辯論</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辯論可改善推理（Du et al., 2023；Liang et al., 2023），但不一定勝過多次取樣投票，效果常被高估（Smit et al., 2023；Zhang et al., 2025）</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B 組投票；呼叫次數對齊</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757198">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角色交換</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交換角色有貢獻（Liu et al., 2025）；PROCLAIM 約 +4.2 點但 token 約 11 倍（Chowdhury et al., 2026）；自我修正可能無效（Huang et al., 2024）</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D 組自我反駁；成本另報</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543855">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模型異質性</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建議改用不同模型（Zhang et al., 2025）；多模型提案與整合（Wang et al., 2024）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RQ2；固定裁決者</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855">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領域分工</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金融代理人分工（Xiao et al., 2024；Yang et al., 2024）；分工結構影響決策（Chen et al., 2023）</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RQ3；分工延伸到決策層</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543855">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裁決與前視偏差</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LLM 裁判有順序、長度偏誤（Zheng et al., 2023）；模型可能記得後續走勢（Glasserman &amp; Lin, 2023；Kong et al., 2026）</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盲測標籤；匿名化與探針</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777" y="5426159"/>
            <a:ext cx="10883427" cy="254017"/>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4A5568"/>
                </a:solidFill>
                <a:latin typeface="Arial" pitchFamily="34" charset="0"/>
                <a:ea typeface="Arial" pitchFamily="34" charset="-122"/>
                <a:cs typeface="Arial" pitchFamily="34" charset="-120"/>
              </a:rPr>
              <a:t>研究缺口：</a:t>
            </a:r>
            <a:r>
              <a:rPr lang="en-US" sz="1200" dirty="0">
                <a:solidFill>
                  <a:srgbClr val="4A5568"/>
                </a:solidFill>
                <a:latin typeface="Arial" pitchFamily="34" charset="0"/>
                <a:ea typeface="Arial" pitchFamily="34" charset="-122"/>
                <a:cs typeface="Arial" pitchFamily="34" charset="-120"/>
              </a:rPr>
              <a:t>在呼叫次數相同、資料時間邊界可查核下，「重新審視既有證據」的自我反駁能否改善投資績效；並檢驗模型組合與領域分工是否改變決策。</a:t>
            </a:r>
            <a:endParaRPr lang="en-US" sz="1200" dirty="0"/>
          </a:p>
        </p:txBody>
      </p:sp>
      <p:sp>
        <p:nvSpPr>
          <p:cNvPr id="6" name="Text 3"/>
          <p:cNvSpPr/>
          <p:nvPr/>
        </p:nvSpPr>
        <p:spPr>
          <a:xfrm>
            <a:off x="812777" y="6238236"/>
            <a:ext cx="135569"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77" y="812778"/>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A6B"/>
                </a:solidFill>
                <a:latin typeface="Arial" pitchFamily="34" charset="0"/>
                <a:ea typeface="Arial" pitchFamily="34" charset="-122"/>
                <a:cs typeface="Arial" pitchFamily="34" charset="-120"/>
              </a:rPr>
              <a:t>第三章 研究方法</a:t>
            </a:r>
            <a:endParaRPr lang="en-US" sz="1300" dirty="0"/>
          </a:p>
        </p:txBody>
      </p:sp>
      <p:sp>
        <p:nvSpPr>
          <p:cNvPr id="3" name="Text 1"/>
          <p:cNvSpPr/>
          <p:nvPr>
            <p:ph type="title"/>
          </p:nvPr>
        </p:nvSpPr>
        <p:spPr>
          <a:xfrm>
            <a:off x="812777" y="1221677"/>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44"/>
                </a:solidFill>
                <a:latin typeface="Georgia" pitchFamily="18" charset="0"/>
                <a:ea typeface="Georgia" pitchFamily="18" charset="-122"/>
                <a:cs typeface="Georgia" pitchFamily="18" charset="-120"/>
              </a:rPr>
              <a:t>研究架構：共用資料層與三個實驗分支</a:t>
            </a:r>
            <a:endParaRPr lang="en-US" sz="3000" dirty="0"/>
          </a:p>
        </p:txBody>
      </p:sp>
      <p:sp>
        <p:nvSpPr>
          <p:cNvPr id="4" name="Text 2"/>
          <p:cNvSpPr/>
          <p:nvPr/>
        </p:nvSpPr>
        <p:spPr>
          <a:xfrm>
            <a:off x="815952" y="1840756"/>
            <a:ext cx="2292416" cy="720382"/>
          </a:xfrm>
          <a:prstGeom prst="roundRect">
            <a:avLst>
              <a:gd name="adj" fmla="val 10137"/>
            </a:avLst>
          </a:prstGeom>
          <a:solidFill>
            <a:srgbClr val="FFFDF8"/>
          </a:solidFill>
          <a:ln w="6350">
            <a:solidFill>
              <a:srgbClr val="DDD7CA"/>
            </a:solidFill>
            <a:prstDash val="solid"/>
          </a:ln>
        </p:spPr>
        <p:txBody>
          <a:bodyPr wrap="square" lIns="133077" tIns="107706" rIns="73572" bIns="82243"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資料</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申報日、歷史版本、時間戳</a:t>
            </a:r>
            <a:endParaRPr lang="en-US" sz="1300" dirty="0"/>
          </a:p>
        </p:txBody>
      </p:sp>
      <p:pic>
        <p:nvPicPr>
          <p:cNvPr id="5" name="Image 0" descr="arrow-right">    </p:cNvPr>
          <p:cNvPicPr>
            <a:picLocks noChangeAspect="1"/>
          </p:cNvPicPr>
          <p:nvPr/>
        </p:nvPicPr>
        <p:blipFill>
          <a:blip r:embed="rId1"/>
          <a:srcRect l="-5" r="-5" t="0" b="0"/>
          <a:stretch/>
        </p:blipFill>
        <p:spPr>
          <a:xfrm>
            <a:off x="3213109" y="2124742"/>
            <a:ext cx="253977" cy="152370"/>
          </a:xfrm>
          <a:prstGeom prst="rect">
            <a:avLst/>
          </a:prstGeom>
        </p:spPr>
      </p:pic>
      <p:sp>
        <p:nvSpPr>
          <p:cNvPr id="6" name="Text 3"/>
          <p:cNvSpPr/>
          <p:nvPr/>
        </p:nvSpPr>
        <p:spPr>
          <a:xfrm>
            <a:off x="3571828" y="1840756"/>
            <a:ext cx="2292457" cy="720382"/>
          </a:xfrm>
          <a:prstGeom prst="roundRect">
            <a:avLst>
              <a:gd name="adj" fmla="val 10137"/>
            </a:avLst>
          </a:prstGeom>
          <a:solidFill>
            <a:srgbClr val="FFFDF8"/>
          </a:solidFill>
          <a:ln w="6350">
            <a:solidFill>
              <a:srgbClr val="DDD7CA"/>
            </a:solidFill>
            <a:prstDash val="solid"/>
          </a:ln>
        </p:spPr>
        <p:txBody>
          <a:bodyPr wrap="square" lIns="133077" tIns="107706" rIns="73570" bIns="82243"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資料快照</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內容雜湊、不可變</a:t>
            </a:r>
            <a:endParaRPr lang="en-US" sz="1300" dirty="0"/>
          </a:p>
        </p:txBody>
      </p:sp>
      <p:pic>
        <p:nvPicPr>
          <p:cNvPr id="7" name="Image 1" descr="arrow-right">    </p:cNvPr>
          <p:cNvPicPr>
            <a:picLocks noChangeAspect="1"/>
          </p:cNvPicPr>
          <p:nvPr/>
        </p:nvPicPr>
        <p:blipFill>
          <a:blip r:embed="rId2"/>
          <a:srcRect l="-5" r="-5" t="0" b="0"/>
          <a:stretch/>
        </p:blipFill>
        <p:spPr>
          <a:xfrm>
            <a:off x="5969026" y="2124742"/>
            <a:ext cx="253977" cy="152370"/>
          </a:xfrm>
          <a:prstGeom prst="rect">
            <a:avLst/>
          </a:prstGeom>
        </p:spPr>
      </p:pic>
      <p:sp>
        <p:nvSpPr>
          <p:cNvPr id="8" name="Text 4"/>
          <p:cNvSpPr/>
          <p:nvPr/>
        </p:nvSpPr>
        <p:spPr>
          <a:xfrm>
            <a:off x="6327745" y="1840756"/>
            <a:ext cx="2292416" cy="720382"/>
          </a:xfrm>
          <a:prstGeom prst="roundRect">
            <a:avLst>
              <a:gd name="adj" fmla="val 10137"/>
            </a:avLst>
          </a:prstGeom>
          <a:solidFill>
            <a:srgbClr val="FFFDF8"/>
          </a:solidFill>
          <a:ln w="6350">
            <a:solidFill>
              <a:srgbClr val="DDD7CA"/>
            </a:solidFill>
            <a:prstDash val="solid"/>
          </a:ln>
        </p:spPr>
        <p:txBody>
          <a:bodyPr wrap="square" lIns="133076" tIns="107706" rIns="73572" bIns="82243"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四個研究代理人</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技術、基本、情緒、總經</a:t>
            </a:r>
            <a:endParaRPr lang="en-US" sz="1300" dirty="0"/>
          </a:p>
        </p:txBody>
      </p:sp>
      <p:pic>
        <p:nvPicPr>
          <p:cNvPr id="9" name="Image 2" descr="arrow-right">    </p:cNvPr>
          <p:cNvPicPr>
            <a:picLocks noChangeAspect="1"/>
          </p:cNvPicPr>
          <p:nvPr/>
        </p:nvPicPr>
        <p:blipFill>
          <a:blip r:embed="rId3"/>
          <a:srcRect l="-5" r="-5" t="0" b="0"/>
          <a:stretch/>
        </p:blipFill>
        <p:spPr>
          <a:xfrm>
            <a:off x="8724902" y="2124742"/>
            <a:ext cx="253977" cy="152370"/>
          </a:xfrm>
          <a:prstGeom prst="rect">
            <a:avLst/>
          </a:prstGeom>
        </p:spPr>
      </p:pic>
      <p:sp>
        <p:nvSpPr>
          <p:cNvPr id="10" name="Text 5"/>
          <p:cNvSpPr/>
          <p:nvPr/>
        </p:nvSpPr>
        <p:spPr>
          <a:xfrm>
            <a:off x="9083621" y="1840756"/>
            <a:ext cx="2292416" cy="720382"/>
          </a:xfrm>
          <a:prstGeom prst="roundRect">
            <a:avLst>
              <a:gd name="adj" fmla="val 10137"/>
            </a:avLst>
          </a:prstGeom>
          <a:solidFill>
            <a:srgbClr val="FFFDF8"/>
          </a:solidFill>
          <a:ln w="6350">
            <a:solidFill>
              <a:srgbClr val="DDD7CA"/>
            </a:solidFill>
            <a:prstDash val="solid"/>
          </a:ln>
        </p:spPr>
        <p:txBody>
          <a:bodyPr wrap="square" lIns="133077" tIns="107706" rIns="73572" bIns="82243"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中立報告</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證據登錄、鎖定</a:t>
            </a:r>
            <a:endParaRPr lang="en-US" sz="1300" dirty="0"/>
          </a:p>
        </p:txBody>
      </p:sp>
      <p:sp>
        <p:nvSpPr>
          <p:cNvPr id="11" name="Text 6"/>
          <p:cNvSpPr/>
          <p:nvPr/>
        </p:nvSpPr>
        <p:spPr>
          <a:xfrm>
            <a:off x="812777" y="2742084"/>
            <a:ext cx="3437486" cy="766996"/>
          </a:xfrm>
          <a:prstGeom prst="roundRect">
            <a:avLst>
              <a:gd name="adj" fmla="val 9935"/>
            </a:avLst>
          </a:prstGeom>
          <a:solidFill>
            <a:srgbClr val="E3EFEC"/>
          </a:solidFill>
          <a:ln/>
        </p:spPr>
        <p:txBody>
          <a:bodyPr wrap="square" lIns="166940" tIns="130082" rIns="37176" bIns="104622"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RQ1</a:t>
            </a:r>
            <a:r>
              <a:rPr lang="en-US" sz="1300" dirty="0">
                <a:solidFill>
                  <a:srgbClr val="1F2A44"/>
                </a:solidFill>
                <a:latin typeface="Arial" pitchFamily="34" charset="0"/>
                <a:ea typeface="Arial" pitchFamily="34" charset="-122"/>
                <a:cs typeface="Arial" pitchFamily="34" charset="-120"/>
              </a:rPr>
              <a:t>　同一模型 C／D</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讀同一份中立報告</a:t>
            </a:r>
            <a:endParaRPr lang="en-US" sz="1300" dirty="0"/>
          </a:p>
        </p:txBody>
      </p:sp>
      <p:sp>
        <p:nvSpPr>
          <p:cNvPr id="12" name="Shape 7"/>
          <p:cNvSpPr/>
          <p:nvPr/>
        </p:nvSpPr>
        <p:spPr>
          <a:xfrm>
            <a:off x="812777" y="2742084"/>
            <a:ext cx="3437486" cy="766996"/>
          </a:xfrm>
          <a:custGeom>
            <a:avLst/>
            <a:gdLst/>
            <a:ahLst/>
            <a:cxnLst/>
            <a:rect l="l" t="t" r="r" b="b"/>
            <a:pathLst>
              <a:path w="3437486" h="766996">
                <a:moveTo>
                  <a:pt x="76200" y="766996"/>
                </a:moveTo>
                <a:lnTo>
                  <a:pt x="76200" y="766996"/>
                </a:lnTo>
                <a:arcTo hR="76200" wR="76200" stAng="5400000" swAng="5400000"/>
                <a:lnTo>
                  <a:pt x="0" y="76200"/>
                </a:lnTo>
                <a:arcTo hR="76200" wR="76200" stAng="10800000" swAng="5400000"/>
                <a:lnTo>
                  <a:pt x="76200" y="0"/>
                </a:lnTo>
                <a:arcTo hR="76200" wR="38100" stAng="16200000" swAng="-5400000"/>
                <a:lnTo>
                  <a:pt x="38100" y="690796"/>
                </a:lnTo>
                <a:arcTo hR="76200" wR="38100" stAng="10800000" swAng="-5400000"/>
                <a:close/>
              </a:path>
            </a:pathLst>
          </a:custGeom>
          <a:solidFill>
            <a:srgbClr val="0F7A6B"/>
          </a:solidFill>
          <a:ln/>
        </p:spPr>
      </p:sp>
      <p:sp>
        <p:nvSpPr>
          <p:cNvPr id="13" name="Text 8"/>
          <p:cNvSpPr/>
          <p:nvPr/>
        </p:nvSpPr>
        <p:spPr>
          <a:xfrm>
            <a:off x="4377231" y="2742084"/>
            <a:ext cx="3437486" cy="766996"/>
          </a:xfrm>
          <a:prstGeom prst="roundRect">
            <a:avLst>
              <a:gd name="adj" fmla="val 9935"/>
            </a:avLst>
          </a:prstGeom>
          <a:solidFill>
            <a:srgbClr val="E3EFEC"/>
          </a:solidFill>
          <a:ln/>
        </p:spPr>
        <p:txBody>
          <a:bodyPr wrap="square" lIns="166940" tIns="130082" rIns="37176" bIns="104622"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RQ2</a:t>
            </a:r>
            <a:r>
              <a:rPr lang="en-US" sz="1300" dirty="0">
                <a:solidFill>
                  <a:srgbClr val="1F2A44"/>
                </a:solidFill>
                <a:latin typeface="Arial" pitchFamily="34" charset="0"/>
                <a:ea typeface="Arial" pitchFamily="34" charset="-122"/>
                <a:cs typeface="Arial" pitchFamily="34" charset="-120"/>
              </a:rPr>
              <a:t>　不同模型 C／D</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配置 X、Y 平衡</a:t>
            </a:r>
            <a:endParaRPr lang="en-US" sz="1300" dirty="0"/>
          </a:p>
        </p:txBody>
      </p:sp>
      <p:sp>
        <p:nvSpPr>
          <p:cNvPr id="14" name="Shape 9"/>
          <p:cNvSpPr/>
          <p:nvPr/>
        </p:nvSpPr>
        <p:spPr>
          <a:xfrm>
            <a:off x="4377231" y="2742084"/>
            <a:ext cx="3437486" cy="766996"/>
          </a:xfrm>
          <a:custGeom>
            <a:avLst/>
            <a:gdLst/>
            <a:ahLst/>
            <a:cxnLst/>
            <a:rect l="l" t="t" r="r" b="b"/>
            <a:pathLst>
              <a:path w="3437486" h="766996">
                <a:moveTo>
                  <a:pt x="76200" y="766996"/>
                </a:moveTo>
                <a:lnTo>
                  <a:pt x="76200" y="766996"/>
                </a:lnTo>
                <a:arcTo hR="76200" wR="76200" stAng="5400000" swAng="5400000"/>
                <a:lnTo>
                  <a:pt x="0" y="76200"/>
                </a:lnTo>
                <a:arcTo hR="76200" wR="76200" stAng="10800000" swAng="5400000"/>
                <a:lnTo>
                  <a:pt x="76200" y="0"/>
                </a:lnTo>
                <a:arcTo hR="76200" wR="38100" stAng="16200000" swAng="-5400000"/>
                <a:lnTo>
                  <a:pt x="38100" y="690796"/>
                </a:lnTo>
                <a:arcTo hR="76200" wR="38100" stAng="10800000" swAng="-5400000"/>
                <a:close/>
              </a:path>
            </a:pathLst>
          </a:custGeom>
          <a:solidFill>
            <a:srgbClr val="0F7A6B"/>
          </a:solidFill>
          <a:ln/>
        </p:spPr>
      </p:sp>
      <p:sp>
        <p:nvSpPr>
          <p:cNvPr id="15" name="Text 10"/>
          <p:cNvSpPr/>
          <p:nvPr/>
        </p:nvSpPr>
        <p:spPr>
          <a:xfrm>
            <a:off x="7941685" y="2742084"/>
            <a:ext cx="3437527" cy="766996"/>
          </a:xfrm>
          <a:prstGeom prst="roundRect">
            <a:avLst>
              <a:gd name="adj" fmla="val 9935"/>
            </a:avLst>
          </a:prstGeom>
          <a:solidFill>
            <a:srgbClr val="E3EFEC"/>
          </a:solidFill>
          <a:ln/>
        </p:spPr>
        <p:txBody>
          <a:bodyPr wrap="square" lIns="166940" tIns="130082" rIns="37175" bIns="104622"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RQ3</a:t>
            </a:r>
            <a:r>
              <a:rPr lang="en-US" sz="1300" dirty="0">
                <a:solidFill>
                  <a:srgbClr val="1F2A44"/>
                </a:solidFill>
                <a:latin typeface="Arial" pitchFamily="34" charset="0"/>
                <a:ea typeface="Arial" pitchFamily="34" charset="-122"/>
                <a:cs typeface="Arial" pitchFamily="34" charset="-120"/>
              </a:rPr>
              <a:t>　通才／四領域辯論</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讀報告的領域切片</a:t>
            </a:r>
            <a:endParaRPr lang="en-US" sz="1300" dirty="0"/>
          </a:p>
        </p:txBody>
      </p:sp>
      <p:sp>
        <p:nvSpPr>
          <p:cNvPr id="16" name="Shape 11"/>
          <p:cNvSpPr/>
          <p:nvPr/>
        </p:nvSpPr>
        <p:spPr>
          <a:xfrm>
            <a:off x="7941685" y="2742084"/>
            <a:ext cx="3437527" cy="766996"/>
          </a:xfrm>
          <a:custGeom>
            <a:avLst/>
            <a:gdLst/>
            <a:ahLst/>
            <a:cxnLst/>
            <a:rect l="l" t="t" r="r" b="b"/>
            <a:pathLst>
              <a:path w="3437527" h="766996">
                <a:moveTo>
                  <a:pt x="76200" y="766996"/>
                </a:moveTo>
                <a:lnTo>
                  <a:pt x="76200" y="766996"/>
                </a:lnTo>
                <a:arcTo hR="76200" wR="76200" stAng="5400000" swAng="5400000"/>
                <a:lnTo>
                  <a:pt x="0" y="76200"/>
                </a:lnTo>
                <a:arcTo hR="76200" wR="76200" stAng="10800000" swAng="5400000"/>
                <a:lnTo>
                  <a:pt x="76200" y="0"/>
                </a:lnTo>
                <a:arcTo hR="76200" wR="38100" stAng="16200000" swAng="-5400000"/>
                <a:lnTo>
                  <a:pt x="38100" y="690796"/>
                </a:lnTo>
                <a:arcTo hR="76200" wR="38100" stAng="10800000" swAng="-5400000"/>
                <a:close/>
              </a:path>
            </a:pathLst>
          </a:custGeom>
          <a:solidFill>
            <a:srgbClr val="0F7A6B"/>
          </a:solidFill>
          <a:ln/>
        </p:spPr>
      </p:sp>
      <p:sp>
        <p:nvSpPr>
          <p:cNvPr id="17" name="Text 12"/>
          <p:cNvSpPr/>
          <p:nvPr/>
        </p:nvSpPr>
        <p:spPr>
          <a:xfrm>
            <a:off x="815952" y="3690029"/>
            <a:ext cx="3211041" cy="951510"/>
          </a:xfrm>
          <a:prstGeom prst="roundRect">
            <a:avLst>
              <a:gd name="adj" fmla="val 7675"/>
            </a:avLst>
          </a:prstGeom>
          <a:solidFill>
            <a:srgbClr val="FFFDF8"/>
          </a:solidFill>
          <a:ln w="6350">
            <a:solidFill>
              <a:srgbClr val="DDD7CA"/>
            </a:solidFill>
            <a:prstDash val="solid"/>
          </a:ln>
        </p:spPr>
        <p:txBody>
          <a:bodyPr wrap="square" lIns="133077" tIns="107706" rIns="46013" bIns="82243"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裁決者／最終整合者</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RQ1、RQ2 固定裁決者；RQ3 整合四份領域看法</a:t>
            </a:r>
            <a:endParaRPr lang="en-US" sz="1300" dirty="0"/>
          </a:p>
        </p:txBody>
      </p:sp>
      <p:pic>
        <p:nvPicPr>
          <p:cNvPr id="18" name="Image 3" descr="arrow-right">    </p:cNvPr>
          <p:cNvPicPr>
            <a:picLocks noChangeAspect="1"/>
          </p:cNvPicPr>
          <p:nvPr/>
        </p:nvPicPr>
        <p:blipFill>
          <a:blip r:embed="rId4"/>
          <a:srcRect l="-5" r="-5" t="0" b="0"/>
          <a:stretch/>
        </p:blipFill>
        <p:spPr>
          <a:xfrm>
            <a:off x="4131735" y="4089577"/>
            <a:ext cx="253977" cy="152370"/>
          </a:xfrm>
          <a:prstGeom prst="rect">
            <a:avLst/>
          </a:prstGeom>
        </p:spPr>
      </p:pic>
      <p:sp>
        <p:nvSpPr>
          <p:cNvPr id="19" name="Text 13"/>
          <p:cNvSpPr/>
          <p:nvPr/>
        </p:nvSpPr>
        <p:spPr>
          <a:xfrm>
            <a:off x="4490453" y="3805591"/>
            <a:ext cx="3211082" cy="720382"/>
          </a:xfrm>
          <a:prstGeom prst="roundRect">
            <a:avLst>
              <a:gd name="adj" fmla="val 10137"/>
            </a:avLst>
          </a:prstGeom>
          <a:solidFill>
            <a:srgbClr val="FFFDF8"/>
          </a:solidFill>
          <a:ln w="6350">
            <a:solidFill>
              <a:srgbClr val="DDD7CA"/>
            </a:solidFill>
            <a:prstDash val="solid"/>
          </a:ln>
        </p:spPr>
        <p:txBody>
          <a:bodyPr wrap="square" lIns="133076" tIns="107706" rIns="46012" bIns="82243"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守門員</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證據、資料覆蓋、風險</a:t>
            </a:r>
            <a:endParaRPr lang="en-US" sz="1300" dirty="0"/>
          </a:p>
        </p:txBody>
      </p:sp>
      <p:pic>
        <p:nvPicPr>
          <p:cNvPr id="20" name="Image 4" descr="arrow-right">    </p:cNvPr>
          <p:cNvPicPr>
            <a:picLocks noChangeAspect="1"/>
          </p:cNvPicPr>
          <p:nvPr/>
        </p:nvPicPr>
        <p:blipFill>
          <a:blip r:embed="rId5"/>
          <a:srcRect l="-5" r="-5" t="0" b="0"/>
          <a:stretch/>
        </p:blipFill>
        <p:spPr>
          <a:xfrm>
            <a:off x="7806277" y="4089577"/>
            <a:ext cx="253977" cy="152370"/>
          </a:xfrm>
          <a:prstGeom prst="rect">
            <a:avLst/>
          </a:prstGeom>
        </p:spPr>
      </p:pic>
      <p:sp>
        <p:nvSpPr>
          <p:cNvPr id="21" name="Text 14"/>
          <p:cNvSpPr/>
          <p:nvPr/>
        </p:nvSpPr>
        <p:spPr>
          <a:xfrm>
            <a:off x="8164995" y="3805591"/>
            <a:ext cx="3211041" cy="720382"/>
          </a:xfrm>
          <a:prstGeom prst="roundRect">
            <a:avLst>
              <a:gd name="adj" fmla="val 10137"/>
            </a:avLst>
          </a:prstGeom>
          <a:solidFill>
            <a:srgbClr val="FFFDF8"/>
          </a:solidFill>
          <a:ln w="6350">
            <a:solidFill>
              <a:srgbClr val="DDD7CA"/>
            </a:solidFill>
            <a:prstDash val="solid"/>
          </a:ln>
        </p:spPr>
        <p:txBody>
          <a:bodyPr wrap="square" lIns="133077" tIns="107706" rIns="46013" bIns="82243"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回測與評估</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準確率、Sharpe、成本</a:t>
            </a:r>
            <a:endParaRPr lang="en-US" sz="1300" dirty="0"/>
          </a:p>
        </p:txBody>
      </p:sp>
      <p:sp>
        <p:nvSpPr>
          <p:cNvPr id="22" name="Text 15"/>
          <p:cNvSpPr/>
          <p:nvPr/>
        </p:nvSpPr>
        <p:spPr>
          <a:xfrm>
            <a:off x="812777" y="6238236"/>
            <a:ext cx="3555503"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7 · 三個分支共用資料、候選決策與評估口徑</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77" y="812778"/>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A6B"/>
                </a:solidFill>
                <a:latin typeface="Arial" pitchFamily="34" charset="0"/>
                <a:ea typeface="Arial" pitchFamily="34" charset="-122"/>
                <a:cs typeface="Arial" pitchFamily="34" charset="-120"/>
              </a:rPr>
              <a:t>第三章 研究方法</a:t>
            </a:r>
            <a:endParaRPr lang="en-US" sz="1300" dirty="0"/>
          </a:p>
        </p:txBody>
      </p:sp>
      <p:sp>
        <p:nvSpPr>
          <p:cNvPr id="3" name="Text 1"/>
          <p:cNvSpPr/>
          <p:nvPr>
            <p:ph type="title"/>
          </p:nvPr>
        </p:nvSpPr>
        <p:spPr>
          <a:xfrm>
            <a:off x="812777" y="1196274"/>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44"/>
                </a:solidFill>
                <a:latin typeface="Georgia" pitchFamily="18" charset="0"/>
                <a:ea typeface="Georgia" pitchFamily="18" charset="-122"/>
                <a:cs typeface="Georgia" pitchFamily="18" charset="-120"/>
              </a:rPr>
              <a:t>研究設計選擇與理由</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17" y="1797317"/>
          <a:ext cx="10555895" cy="2644099"/>
        </p:xfrm>
        <a:graphic>
          <a:graphicData uri="http://schemas.openxmlformats.org/drawingml/2006/table">
            <a:tbl>
              <a:tblPr/>
              <a:tblGrid>
                <a:gridCol w="2111179"/>
                <a:gridCol w="2533415"/>
                <a:gridCol w="5911301"/>
              </a:tblGrid>
              <a:tr h="330512">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設計</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設定</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理由</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辯論者</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看多與看空</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最簡單的多空論證結構</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交換時點</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第二輪</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先有可引用的原始主張，再從反方向檢查</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交換輪可見資訊</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只有自己的第一輪</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反駁對象限定為自己的主張，避免變成模仿對手</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第三輪</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回到原立場</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把反面證據與不確定性整合進來</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裁決與驗證</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裁決者後接守門員</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決定方向、證據有效性、風險控制分成三件事</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主要比較</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C／D 預定決策呼叫次數相同</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控制推論資源；實際 token 與重試另報</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分析頻率／期間</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每季；60 交易日</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配合財報按季更新；30、90 日檢查敏感度</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777" y="4593785"/>
            <a:ext cx="10883427" cy="25401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輪數等是操作上的選擇，不宣稱是最佳設定。D 的自我引用驗證與重試屬於整套 D 流程，和立場交換、資訊隔離一起構成比較對象。</a:t>
            </a:r>
            <a:endParaRPr lang="en-US" sz="1200" dirty="0"/>
          </a:p>
        </p:txBody>
      </p:sp>
      <p:sp>
        <p:nvSpPr>
          <p:cNvPr id="6" name="Text 3"/>
          <p:cNvSpPr/>
          <p:nvPr/>
        </p:nvSpPr>
        <p:spPr>
          <a:xfrm>
            <a:off x="812777" y="6238236"/>
            <a:ext cx="135569"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77" y="812775"/>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A6B"/>
                </a:solidFill>
                <a:latin typeface="Arial" pitchFamily="34" charset="0"/>
                <a:ea typeface="Arial" pitchFamily="34" charset="-122"/>
                <a:cs typeface="Arial" pitchFamily="34" charset="-120"/>
              </a:rPr>
              <a:t>第三章 研究方法</a:t>
            </a:r>
            <a:endParaRPr lang="en-US" sz="1300" dirty="0"/>
          </a:p>
        </p:txBody>
      </p:sp>
      <p:sp>
        <p:nvSpPr>
          <p:cNvPr id="3" name="Text 1"/>
          <p:cNvSpPr/>
          <p:nvPr>
            <p:ph type="title"/>
          </p:nvPr>
        </p:nvSpPr>
        <p:spPr>
          <a:xfrm>
            <a:off x="812777" y="1221674"/>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44"/>
                </a:solidFill>
                <a:latin typeface="Georgia" pitchFamily="18" charset="0"/>
                <a:ea typeface="Georgia" pitchFamily="18" charset="-122"/>
                <a:cs typeface="Georgia" pitchFamily="18" charset="-120"/>
              </a:rPr>
              <a:t>四組決策機制與立場交換流程</a:t>
            </a:r>
            <a:endParaRPr lang="en-US" sz="3000" dirty="0"/>
          </a:p>
        </p:txBody>
      </p:sp>
      <p:sp>
        <p:nvSpPr>
          <p:cNvPr id="4" name="Text 2"/>
          <p:cNvSpPr/>
          <p:nvPr/>
        </p:nvSpPr>
        <p:spPr>
          <a:xfrm>
            <a:off x="815952" y="1840756"/>
            <a:ext cx="2540012" cy="771186"/>
          </a:xfrm>
          <a:prstGeom prst="roundRect">
            <a:avLst>
              <a:gd name="adj" fmla="val 9469"/>
            </a:avLst>
          </a:prstGeom>
          <a:solidFill>
            <a:srgbClr val="FFFDF8"/>
          </a:solidFill>
          <a:ln w="6350">
            <a:solidFill>
              <a:srgbClr val="DDD7CA"/>
            </a:solidFill>
            <a:prstDash val="solid"/>
          </a:ln>
        </p:spPr>
        <p:txBody>
          <a:bodyPr wrap="square" lIns="133077" tIns="133106" rIns="66144" bIns="107646"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A 單次判斷</a:t>
            </a:r>
            <a:r>
              <a:rPr lang="en-US" sz="1300" dirty="0">
                <a:solidFill>
                  <a:srgbClr val="1F2A44"/>
                </a:solidFill>
                <a:latin typeface="Arial" pitchFamily="34" charset="0"/>
                <a:ea typeface="Arial" pitchFamily="34" charset="-122"/>
                <a:cs typeface="Arial" pitchFamily="34" charset="-120"/>
              </a:rPr>
              <a:t> · 1 次</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讀報告後直接決策</a:t>
            </a:r>
            <a:endParaRPr lang="en-US" sz="1300" dirty="0"/>
          </a:p>
        </p:txBody>
      </p:sp>
      <p:sp>
        <p:nvSpPr>
          <p:cNvPr id="5" name="Text 3"/>
          <p:cNvSpPr/>
          <p:nvPr/>
        </p:nvSpPr>
        <p:spPr>
          <a:xfrm>
            <a:off x="3489282" y="1840756"/>
            <a:ext cx="2540053" cy="771186"/>
          </a:xfrm>
          <a:prstGeom prst="roundRect">
            <a:avLst>
              <a:gd name="adj" fmla="val 9469"/>
            </a:avLst>
          </a:prstGeom>
          <a:solidFill>
            <a:srgbClr val="FFFDF8"/>
          </a:solidFill>
          <a:ln w="6350">
            <a:solidFill>
              <a:srgbClr val="DDD7CA"/>
            </a:solidFill>
            <a:prstDash val="solid"/>
          </a:ln>
        </p:spPr>
        <p:txBody>
          <a:bodyPr wrap="square" lIns="133076" tIns="133106" rIns="66143" bIns="107646"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B 獨立投票</a:t>
            </a:r>
            <a:r>
              <a:rPr lang="en-US" sz="1300" dirty="0">
                <a:solidFill>
                  <a:srgbClr val="1F2A44"/>
                </a:solidFill>
                <a:latin typeface="Arial" pitchFamily="34" charset="0"/>
                <a:ea typeface="Arial" pitchFamily="34" charset="-122"/>
                <a:cs typeface="Arial" pitchFamily="34" charset="-120"/>
              </a:rPr>
              <a:t> · 7 次</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同提示取樣七次，多數決</a:t>
            </a:r>
            <a:endParaRPr lang="en-US" sz="1300" dirty="0"/>
          </a:p>
        </p:txBody>
      </p:sp>
      <p:sp>
        <p:nvSpPr>
          <p:cNvPr id="6" name="Text 4"/>
          <p:cNvSpPr/>
          <p:nvPr/>
        </p:nvSpPr>
        <p:spPr>
          <a:xfrm>
            <a:off x="6162654" y="1840756"/>
            <a:ext cx="2540012" cy="771186"/>
          </a:xfrm>
          <a:prstGeom prst="roundRect">
            <a:avLst>
              <a:gd name="adj" fmla="val 9469"/>
            </a:avLst>
          </a:prstGeom>
          <a:solidFill>
            <a:srgbClr val="FFFDF8"/>
          </a:solidFill>
          <a:ln w="6350">
            <a:solidFill>
              <a:srgbClr val="DDD7CA"/>
            </a:solidFill>
            <a:prstDash val="solid"/>
          </a:ln>
        </p:spPr>
        <p:txBody>
          <a:bodyPr wrap="square" lIns="133076" tIns="133106" rIns="66144" bIns="107646"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C 固定立場</a:t>
            </a:r>
            <a:r>
              <a:rPr lang="en-US" sz="1300" dirty="0">
                <a:solidFill>
                  <a:srgbClr val="1F2A44"/>
                </a:solidFill>
                <a:latin typeface="Arial" pitchFamily="34" charset="0"/>
                <a:ea typeface="Arial" pitchFamily="34" charset="-122"/>
                <a:cs typeface="Arial" pitchFamily="34" charset="-120"/>
              </a:rPr>
              <a:t> · 7 次</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三輪辯論＋裁決</a:t>
            </a:r>
            <a:endParaRPr lang="en-US" sz="1300" dirty="0"/>
          </a:p>
        </p:txBody>
      </p:sp>
      <p:sp>
        <p:nvSpPr>
          <p:cNvPr id="7" name="Text 5"/>
          <p:cNvSpPr/>
          <p:nvPr/>
        </p:nvSpPr>
        <p:spPr>
          <a:xfrm>
            <a:off x="8835984" y="1840756"/>
            <a:ext cx="2540053" cy="771186"/>
          </a:xfrm>
          <a:prstGeom prst="roundRect">
            <a:avLst>
              <a:gd name="adj" fmla="val 9469"/>
            </a:avLst>
          </a:prstGeom>
          <a:solidFill>
            <a:srgbClr val="E3EFEC"/>
          </a:solidFill>
          <a:ln w="6350">
            <a:solidFill>
              <a:srgbClr val="BFD8D2"/>
            </a:solidFill>
            <a:prstDash val="solid"/>
          </a:ln>
        </p:spPr>
        <p:txBody>
          <a:bodyPr wrap="square" lIns="133076" tIns="133106" rIns="66143" bIns="107646" rtlCol="0" anchor="t">
            <a:normAutofit/>
          </a:bodyPr>
          <a:lstStyle/>
          <a:p>
            <a:pPr algn="l" indent="0" marL="0">
              <a:lnSpc>
                <a:spcPts val="1820"/>
              </a:lnSpc>
              <a:buNone/>
            </a:pPr>
            <a:r>
              <a:rPr lang="en-US" sz="1300" b="1" dirty="0">
                <a:solidFill>
                  <a:srgbClr val="1F2A44"/>
                </a:solidFill>
                <a:latin typeface="Arial" pitchFamily="34" charset="0"/>
                <a:ea typeface="Arial" pitchFamily="34" charset="-122"/>
                <a:cs typeface="Arial" pitchFamily="34" charset="-120"/>
              </a:rPr>
              <a:t>D 立場交換</a:t>
            </a:r>
            <a:r>
              <a:rPr lang="en-US" sz="1300" dirty="0">
                <a:solidFill>
                  <a:srgbClr val="1F2A44"/>
                </a:solidFill>
                <a:latin typeface="Arial" pitchFamily="34" charset="0"/>
                <a:ea typeface="Arial" pitchFamily="34" charset="-122"/>
                <a:cs typeface="Arial" pitchFamily="34" charset="-120"/>
              </a:rPr>
              <a:t> · 7 次</a:t>
            </a:r>
            <a:endParaRPr lang="en-US" sz="1300" dirty="0"/>
          </a:p>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第二輪自我反駁＋裁決</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3317" y="2803423"/>
          <a:ext cx="10555895" cy="1652562"/>
        </p:xfrm>
        <a:graphic>
          <a:graphicData uri="http://schemas.openxmlformats.org/drawingml/2006/table">
            <a:tbl>
              <a:tblPr/>
              <a:tblGrid>
                <a:gridCol w="1477825"/>
                <a:gridCol w="5277947"/>
                <a:gridCol w="3800122"/>
              </a:tblGrid>
              <a:tr h="330512">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D 輪次</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內容</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目的</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第 1 輪</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看多與看空各自提出論點並引用證據</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建立初始立場</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第 2 輪</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換邊，只看自己第一輪，引用並反駁自己的原主張</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找出自己論點的弱點</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第 3 輪</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換回原立場，整合前兩輪的論點與反駁</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整合並說明不確定性</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裁決</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逐項核對證據，在買進與賣出之間擇一</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避免只看誰講得大聲</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bl>
          </a:graphicData>
        </a:graphic>
      </p:graphicFrame>
      <p:sp>
        <p:nvSpPr>
          <p:cNvPr id="9" name="Text 6"/>
          <p:cNvSpPr/>
          <p:nvPr/>
        </p:nvSpPr>
        <p:spPr>
          <a:xfrm>
            <a:off x="812777" y="6238236"/>
            <a:ext cx="6826984"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9 · 主要比較為 C 與 D；A、B 為補充對照。預定決策呼叫次數相同不代表 token 相同</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77" y="812775"/>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A6B"/>
                </a:solidFill>
                <a:latin typeface="Arial" pitchFamily="34" charset="0"/>
                <a:ea typeface="Arial" pitchFamily="34" charset="-122"/>
                <a:cs typeface="Arial" pitchFamily="34" charset="-120"/>
              </a:rPr>
              <a:t>第三章 研究方法</a:t>
            </a:r>
            <a:endParaRPr lang="en-US" sz="1300" dirty="0"/>
          </a:p>
        </p:txBody>
      </p:sp>
      <p:sp>
        <p:nvSpPr>
          <p:cNvPr id="3" name="Text 1"/>
          <p:cNvSpPr/>
          <p:nvPr>
            <p:ph type="title"/>
          </p:nvPr>
        </p:nvSpPr>
        <p:spPr>
          <a:xfrm>
            <a:off x="812777" y="1196274"/>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44"/>
                </a:solidFill>
                <a:latin typeface="Georgia" pitchFamily="18" charset="0"/>
                <a:ea typeface="Georgia" pitchFamily="18" charset="-122"/>
                <a:cs typeface="Georgia" pitchFamily="18" charset="-120"/>
              </a:rPr>
              <a:t>RQ2 模型組合設計（未執行）</a:t>
            </a:r>
            <a:endParaRPr lang="en-US" sz="3000" dirty="0"/>
          </a:p>
        </p:txBody>
      </p:sp>
      <p:sp>
        <p:nvSpPr>
          <p:cNvPr id="4" name="Text 2"/>
          <p:cNvSpPr/>
          <p:nvPr/>
        </p:nvSpPr>
        <p:spPr>
          <a:xfrm>
            <a:off x="812777" y="1786775"/>
            <a:ext cx="6226631" cy="520675"/>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F2A44"/>
                </a:solidFill>
                <a:latin typeface="Arial" pitchFamily="34" charset="0"/>
                <a:ea typeface="Arial" pitchFamily="34" charset="-122"/>
                <a:cs typeface="Arial" pitchFamily="34" charset="-120"/>
              </a:rPr>
              <a:t>只改變</a:t>
            </a:r>
            <a:r>
              <a:rPr lang="en-US" sz="1300" b="1" dirty="0">
                <a:solidFill>
                  <a:srgbClr val="1F2A44"/>
                </a:solidFill>
                <a:latin typeface="Arial" pitchFamily="34" charset="0"/>
                <a:ea typeface="Arial" pitchFamily="34" charset="-122"/>
                <a:cs typeface="Arial" pitchFamily="34" charset="-120"/>
              </a:rPr>
              <a:t>多空辯論者用哪個模型</a:t>
            </a:r>
            <a:r>
              <a:rPr lang="en-US" sz="1300" dirty="0">
                <a:solidFill>
                  <a:srgbClr val="1F2A44"/>
                </a:solidFill>
                <a:latin typeface="Arial" pitchFamily="34" charset="0"/>
                <a:ea typeface="Arial" pitchFamily="34" charset="-122"/>
                <a:cs typeface="Arial" pitchFamily="34" charset="-120"/>
              </a:rPr>
              <a:t>；案例、快照、中立報告、研究代理人、三輪規則、裁決者、守門員、回測全部固定。M1＝qwen3:32b，M2＝gemma3:27b。</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3317" y="2394152"/>
          <a:ext cx="6034734" cy="1322050"/>
        </p:xfrm>
        <a:graphic>
          <a:graphicData uri="http://schemas.openxmlformats.org/drawingml/2006/table">
            <a:tbl>
              <a:tblPr/>
              <a:tblGrid>
                <a:gridCol w="1448336"/>
                <a:gridCol w="2293199"/>
                <a:gridCol w="2293199"/>
              </a:tblGrid>
              <a:tr h="330512">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輪次</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配置 X</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配置 Y</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第 1 輪</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M1 看多；M2 看空</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M2 看多；M1 看空</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第 2 輪</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M1 看空；M2 看多</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M2 看空；M1 看多</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第 3 輪</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M1 看多；M2 看空</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M2 看多；M1 看空</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6" name="Text 3"/>
          <p:cNvSpPr/>
          <p:nvPr/>
        </p:nvSpPr>
        <p:spPr>
          <a:xfrm>
            <a:off x="812777" y="3817770"/>
            <a:ext cx="6226631"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模型不隨立場交換；兩種配置平衡模型與初始立場。</a:t>
            </a:r>
            <a:endParaRPr lang="en-US" sz="1200" dirty="0"/>
          </a:p>
        </p:txBody>
      </p:sp>
      <p:sp>
        <p:nvSpPr>
          <p:cNvPr id="7" name="Shape 4"/>
          <p:cNvSpPr/>
          <p:nvPr/>
        </p:nvSpPr>
        <p:spPr>
          <a:xfrm>
            <a:off x="7064399" y="1789950"/>
            <a:ext cx="4311638" cy="2271049"/>
          </a:xfrm>
          <a:prstGeom prst="roundRect">
            <a:avLst>
              <a:gd name="adj" fmla="val 4334"/>
            </a:avLst>
          </a:prstGeom>
          <a:solidFill>
            <a:srgbClr val="FFFDF8"/>
          </a:solidFill>
          <a:ln w="6350">
            <a:solidFill>
              <a:srgbClr val="DDD7CA"/>
            </a:solidFill>
            <a:prstDash val="solid"/>
          </a:ln>
        </p:spPr>
      </p:sp>
      <p:sp>
        <p:nvSpPr>
          <p:cNvPr id="8" name="Text 5"/>
          <p:cNvSpPr/>
          <p:nvPr/>
        </p:nvSpPr>
        <p:spPr>
          <a:xfrm>
            <a:off x="7269668" y="1995221"/>
            <a:ext cx="4018134" cy="25397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44"/>
                </a:solidFill>
                <a:latin typeface="Arial" pitchFamily="34" charset="0"/>
                <a:ea typeface="Arial" pitchFamily="34" charset="-122"/>
                <a:cs typeface="Arial" pitchFamily="34" charset="-120"/>
              </a:rPr>
              <a:t>主要比較量：差中之差</a:t>
            </a:r>
            <a:endParaRPr lang="en-US" sz="1500" dirty="0"/>
          </a:p>
        </p:txBody>
      </p:sp>
      <p:sp>
        <p:nvSpPr>
          <p:cNvPr id="9" name="Text 6"/>
          <p:cNvSpPr/>
          <p:nvPr/>
        </p:nvSpPr>
        <p:spPr>
          <a:xfrm>
            <a:off x="7269668" y="2325359"/>
            <a:ext cx="4018134" cy="31112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F2A44"/>
                </a:solidFill>
                <a:latin typeface="Georgia" pitchFamily="18" charset="0"/>
                <a:ea typeface="Georgia" pitchFamily="18" charset="-122"/>
                <a:cs typeface="Georgia" pitchFamily="18" charset="-120"/>
              </a:rPr>
              <a:t>Δ ＝（D − C）不同模型 −（D − C）同一模型</a:t>
            </a:r>
            <a:endParaRPr lang="en-US" sz="1500" dirty="0"/>
          </a:p>
        </p:txBody>
      </p:sp>
      <p:sp>
        <p:nvSpPr>
          <p:cNvPr id="10" name="Text 7"/>
          <p:cNvSpPr/>
          <p:nvPr/>
        </p:nvSpPr>
        <p:spPr>
          <a:xfrm>
            <a:off x="7381174" y="2712647"/>
            <a:ext cx="3899008" cy="1168484"/>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同一模型的對照有 M1/M1 與 M2/M2 兩個，各算一組</a:t>
            </a:r>
            <a:endParaRPr lang="en-US" sz="1200" dirty="0"/>
          </a:p>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不同模型條件：每案取 X、Y 平均；日報酬取等權平均再算 Sharpe</a:t>
            </a:r>
            <a:endParaRPr lang="en-US" sz="1200" dirty="0"/>
          </a:p>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X、Y 共用案例，不當兩倍樣本</a:t>
            </a:r>
            <a:endParaRPr lang="en-US" sz="1200" dirty="0"/>
          </a:p>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結論只適用這組指定模型</a:t>
            </a:r>
            <a:endParaRPr lang="en-US" sz="1200" dirty="0"/>
          </a:p>
        </p:txBody>
      </p:sp>
      <p:sp>
        <p:nvSpPr>
          <p:cNvPr id="11" name="Text 8"/>
          <p:cNvSpPr/>
          <p:nvPr/>
        </p:nvSpPr>
        <p:spPr>
          <a:xfrm>
            <a:off x="812777" y="6238236"/>
            <a:ext cx="220297"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77" y="812775"/>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A6B"/>
                </a:solidFill>
                <a:latin typeface="Arial" pitchFamily="34" charset="0"/>
                <a:ea typeface="Arial" pitchFamily="34" charset="-122"/>
                <a:cs typeface="Arial" pitchFamily="34" charset="-120"/>
              </a:rPr>
              <a:t>第三章 研究方法</a:t>
            </a:r>
            <a:endParaRPr lang="en-US" sz="1300" dirty="0"/>
          </a:p>
        </p:txBody>
      </p:sp>
      <p:sp>
        <p:nvSpPr>
          <p:cNvPr id="3" name="Text 1"/>
          <p:cNvSpPr/>
          <p:nvPr>
            <p:ph type="title"/>
          </p:nvPr>
        </p:nvSpPr>
        <p:spPr>
          <a:xfrm>
            <a:off x="812777" y="1196274"/>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44"/>
                </a:solidFill>
                <a:latin typeface="Georgia" pitchFamily="18" charset="0"/>
                <a:ea typeface="Georgia" pitchFamily="18" charset="-122"/>
                <a:cs typeface="Georgia" pitchFamily="18" charset="-120"/>
              </a:rPr>
              <a:t>RQ3 領域分工設計（未執行）</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17" y="1797314"/>
          <a:ext cx="10555895" cy="1983075"/>
        </p:xfrm>
        <a:graphic>
          <a:graphicData uri="http://schemas.openxmlformats.org/drawingml/2006/table">
            <a:tbl>
              <a:tblPr/>
              <a:tblGrid>
                <a:gridCol w="2322297"/>
                <a:gridCol w="3800122"/>
                <a:gridCol w="4433476"/>
              </a:tblGrid>
              <a:tr h="330512">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項目</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通才組</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領域專業化組</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辯論者與證據</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共同的看多／看空，讀整合報告</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每個領域各有看多／看空，只讀該領域證據</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辯論規則</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C：三輪固定立場</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每個領域都用 C</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領域內裁決</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無</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輸出標準格式的領域看法；資訊不足可棄權</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上層整合</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裁決者直接裁決</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最終整合者讀四份領域看法後裁決</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預定決策呼叫次數</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4 × 7 ＋ 1 ＝ 29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5952" y="3935933"/>
            <a:ext cx="5200662" cy="766163"/>
          </a:xfrm>
          <a:prstGeom prst="roundRect">
            <a:avLst>
              <a:gd name="adj" fmla="val 9531"/>
            </a:avLst>
          </a:prstGeom>
          <a:solidFill>
            <a:srgbClr val="FFFDF8"/>
          </a:solidFill>
          <a:ln w="6350">
            <a:solidFill>
              <a:srgbClr val="DDD7CA"/>
            </a:solidFill>
            <a:prstDash val="solid"/>
          </a:ln>
        </p:spPr>
        <p:txBody>
          <a:bodyPr wrap="square" lIns="133077" tIns="133106" rIns="0" bIns="107646" rtlCol="0" anchor="t">
            <a:normAutofit/>
          </a:bodyPr>
          <a:lstStyle/>
          <a:p>
            <a:pPr algn="l" indent="0" marL="0">
              <a:lnSpc>
                <a:spcPts val="1800"/>
              </a:lnSpc>
              <a:buNone/>
            </a:pPr>
            <a:r>
              <a:rPr lang="en-US" sz="1200" b="1" dirty="0">
                <a:solidFill>
                  <a:srgbClr val="1F2A44"/>
                </a:solidFill>
                <a:latin typeface="Arial" pitchFamily="34" charset="0"/>
                <a:ea typeface="Arial" pitchFamily="34" charset="-122"/>
                <a:cs typeface="Arial" pitchFamily="34" charset="-120"/>
              </a:rPr>
              <a:t>必要對照一：運算資源對齊</a:t>
            </a:r>
            <a:endParaRPr lang="en-US" sz="1200" dirty="0"/>
          </a:p>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通才組用相同的約 29 次呼叫（多次取樣後裁決）</a:t>
            </a:r>
            <a:endParaRPr lang="en-US" sz="1200" dirty="0"/>
          </a:p>
        </p:txBody>
      </p:sp>
      <p:sp>
        <p:nvSpPr>
          <p:cNvPr id="6" name="Text 3"/>
          <p:cNvSpPr/>
          <p:nvPr/>
        </p:nvSpPr>
        <p:spPr>
          <a:xfrm>
            <a:off x="6175334" y="3935933"/>
            <a:ext cx="5200703" cy="766163"/>
          </a:xfrm>
          <a:prstGeom prst="roundRect">
            <a:avLst>
              <a:gd name="adj" fmla="val 9531"/>
            </a:avLst>
          </a:prstGeom>
          <a:solidFill>
            <a:srgbClr val="FFFDF8"/>
          </a:solidFill>
          <a:ln w="6350">
            <a:solidFill>
              <a:srgbClr val="DDD7CA"/>
            </a:solidFill>
            <a:prstDash val="solid"/>
          </a:ln>
        </p:spPr>
        <p:txBody>
          <a:bodyPr wrap="square" lIns="133077" tIns="133106" rIns="0" bIns="107646" rtlCol="0" anchor="t">
            <a:normAutofit/>
          </a:bodyPr>
          <a:lstStyle/>
          <a:p>
            <a:pPr algn="l" indent="0" marL="0">
              <a:lnSpc>
                <a:spcPts val="1800"/>
              </a:lnSpc>
              <a:buNone/>
            </a:pPr>
            <a:r>
              <a:rPr lang="en-US" sz="1200" b="1" dirty="0">
                <a:solidFill>
                  <a:srgbClr val="1F2A44"/>
                </a:solidFill>
                <a:latin typeface="Arial" pitchFamily="34" charset="0"/>
                <a:ea typeface="Arial" pitchFamily="34" charset="-122"/>
                <a:cs typeface="Arial" pitchFamily="34" charset="-120"/>
              </a:rPr>
              <a:t>必要對照二：資訊切分消融</a:t>
            </a:r>
            <a:endParaRPr lang="en-US" sz="1200" dirty="0"/>
          </a:p>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資訊同樣切成四領域，但不辯論，由單一裁決者直接讀</a:t>
            </a:r>
            <a:endParaRPr lang="en-US" sz="1200" dirty="0"/>
          </a:p>
        </p:txBody>
      </p:sp>
      <p:sp>
        <p:nvSpPr>
          <p:cNvPr id="7" name="Text 4"/>
          <p:cNvSpPr/>
          <p:nvPr/>
        </p:nvSpPr>
        <p:spPr>
          <a:xfrm>
            <a:off x="812777" y="6238236"/>
            <a:ext cx="6833702"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11 · 結論限於「整套架構效果」，不稱單純的分工效果；呼叫、token、延遲全部報告</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77" y="812781"/>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A6B"/>
                </a:solidFill>
                <a:latin typeface="Arial" pitchFamily="34" charset="0"/>
                <a:ea typeface="Arial" pitchFamily="34" charset="-122"/>
                <a:cs typeface="Arial" pitchFamily="34" charset="-120"/>
              </a:rPr>
              <a:t>第三章 研究方法</a:t>
            </a:r>
            <a:endParaRPr lang="en-US" sz="1300" dirty="0"/>
          </a:p>
        </p:txBody>
      </p:sp>
      <p:sp>
        <p:nvSpPr>
          <p:cNvPr id="3" name="Text 1"/>
          <p:cNvSpPr/>
          <p:nvPr>
            <p:ph type="title"/>
          </p:nvPr>
        </p:nvSpPr>
        <p:spPr>
          <a:xfrm>
            <a:off x="812777" y="1196280"/>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44"/>
                </a:solidFill>
                <a:latin typeface="Georgia" pitchFamily="18" charset="0"/>
                <a:ea typeface="Georgia" pitchFamily="18" charset="-122"/>
                <a:cs typeface="Georgia" pitchFamily="18" charset="-120"/>
              </a:rPr>
              <a:t>評估方式與統計分析</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17" y="1797320"/>
          <a:ext cx="10555895" cy="1983075"/>
        </p:xfrm>
        <a:graphic>
          <a:graphicData uri="http://schemas.openxmlformats.org/drawingml/2006/table">
            <a:tbl>
              <a:tblPr/>
              <a:tblGrid>
                <a:gridCol w="1477825"/>
                <a:gridCol w="2955650"/>
                <a:gridCol w="3166768"/>
                <a:gridCol w="2955650"/>
              </a:tblGrid>
              <a:tr h="330512">
                <a:tc>
                  <a:txBody>
                    <a:bodyPr/>
                    <a:lstStyle/>
                    <a:p>
                      <a:pPr indent="0" marL="0">
                        <a:lnSpc>
                          <a:spcPts val="1680"/>
                        </a:lnSpc>
                        <a:buNone/>
                      </a:pP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RQ1</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RQ2</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RQ3</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比較</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D 對 C（qwen3:32b）</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同一模型與不同模型下的 D 對 C</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領域專業化對通才</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主要量</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準確率差；Sharpe 差</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差中之差 Δacc、ΔSR</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準確率差；Sharpe 差</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方法</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配對 McNemar；Ledoit–Wolf</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以日期分組的區塊重抽樣</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同 RQ2</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判準</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兩指標皆正且 Holm 校正後 p &lt; 0.05</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兩基準各兩指標，四端點 Holm</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三比較共六端點 Holm</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狀態</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已完成</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設計階段</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設計階段</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777" y="3932765"/>
            <a:ext cx="10883427" cy="48263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共同回測：分析日後第一個交易日開盤進場，持有 60 個交易日後開盤出場，扣 Corwin–Schultz 估計價差；每案權重 1/180。180 案共用 20 個分析日、持有期重疊，以日期分組檢查相依性。</a:t>
            </a:r>
            <a:endParaRPr lang="en-US" sz="1200" dirty="0"/>
          </a:p>
        </p:txBody>
      </p:sp>
      <p:sp>
        <p:nvSpPr>
          <p:cNvPr id="6" name="Text 3"/>
          <p:cNvSpPr/>
          <p:nvPr/>
        </p:nvSpPr>
        <p:spPr>
          <a:xfrm>
            <a:off x="812777" y="6238242"/>
            <a:ext cx="3728516"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12 · RQ2、RQ3 兩欄為預定設計，執行前鎖定</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777" y="812781"/>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A6B"/>
                </a:solidFill>
                <a:latin typeface="Arial" pitchFamily="34" charset="0"/>
                <a:ea typeface="Arial" pitchFamily="34" charset="-122"/>
                <a:cs typeface="Arial" pitchFamily="34" charset="-120"/>
              </a:rPr>
              <a:t>第四章 系統設計與實作</a:t>
            </a:r>
            <a:endParaRPr lang="en-US" sz="1300" dirty="0"/>
          </a:p>
        </p:txBody>
      </p:sp>
      <p:sp>
        <p:nvSpPr>
          <p:cNvPr id="3" name="Text 1"/>
          <p:cNvSpPr/>
          <p:nvPr>
            <p:ph type="title"/>
          </p:nvPr>
        </p:nvSpPr>
        <p:spPr>
          <a:xfrm>
            <a:off x="812777" y="1196280"/>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44"/>
                </a:solidFill>
                <a:latin typeface="Georgia" pitchFamily="18" charset="0"/>
                <a:ea typeface="Georgia" pitchFamily="18" charset="-122"/>
                <a:cs typeface="Georgia" pitchFamily="18" charset="-120"/>
              </a:rPr>
              <a:t>功能模組、稽核機制與實作挑戰</a:t>
            </a:r>
            <a:endParaRPr lang="en-US" sz="3000" dirty="0"/>
          </a:p>
        </p:txBody>
      </p:sp>
      <p:sp>
        <p:nvSpPr>
          <p:cNvPr id="4" name="Shape 2"/>
          <p:cNvSpPr/>
          <p:nvPr/>
        </p:nvSpPr>
        <p:spPr>
          <a:xfrm>
            <a:off x="815952" y="1789956"/>
            <a:ext cx="3414215" cy="1779644"/>
          </a:xfrm>
          <a:prstGeom prst="roundRect">
            <a:avLst>
              <a:gd name="adj" fmla="val 5531"/>
            </a:avLst>
          </a:prstGeom>
          <a:solidFill>
            <a:srgbClr val="FFFDF8"/>
          </a:solidFill>
          <a:ln w="6350">
            <a:solidFill>
              <a:srgbClr val="DDD7CA"/>
            </a:solidFill>
            <a:prstDash val="solid"/>
          </a:ln>
        </p:spPr>
      </p:sp>
      <p:sp>
        <p:nvSpPr>
          <p:cNvPr id="5" name="Text 3"/>
          <p:cNvSpPr/>
          <p:nvPr/>
        </p:nvSpPr>
        <p:spPr>
          <a:xfrm>
            <a:off x="995819" y="1969821"/>
            <a:ext cx="3146116" cy="238743"/>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2A44"/>
                </a:solidFill>
                <a:latin typeface="Arial" pitchFamily="34" charset="0"/>
                <a:ea typeface="Arial" pitchFamily="34" charset="-122"/>
                <a:cs typeface="Arial" pitchFamily="34" charset="-120"/>
              </a:rPr>
              <a:t>功能模組</a:t>
            </a:r>
            <a:endParaRPr lang="en-US" sz="1400" dirty="0"/>
          </a:p>
        </p:txBody>
      </p:sp>
      <p:sp>
        <p:nvSpPr>
          <p:cNvPr id="6" name="Text 4"/>
          <p:cNvSpPr/>
          <p:nvPr/>
        </p:nvSpPr>
        <p:spPr>
          <a:xfrm>
            <a:off x="1107325" y="2246647"/>
            <a:ext cx="3026990" cy="1168484"/>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協調者、資料快照、研究代理人、記憶、裁決者、守門員、回測：已實作</a:t>
            </a:r>
            <a:endParaRPr lang="en-US" sz="1200" dirty="0"/>
          </a:p>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模型路由器、領域辯論模組、最終整合者：已實作原型，尚無正式結果</a:t>
            </a:r>
            <a:endParaRPr lang="en-US" sz="1200" dirty="0"/>
          </a:p>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網頁研究台：流程追蹤與步驟引導</a:t>
            </a:r>
            <a:endParaRPr lang="en-US" sz="1200" dirty="0"/>
          </a:p>
        </p:txBody>
      </p:sp>
      <p:sp>
        <p:nvSpPr>
          <p:cNvPr id="7" name="Shape 5"/>
          <p:cNvSpPr/>
          <p:nvPr/>
        </p:nvSpPr>
        <p:spPr>
          <a:xfrm>
            <a:off x="4388887" y="1789956"/>
            <a:ext cx="3414215" cy="1779644"/>
          </a:xfrm>
          <a:prstGeom prst="roundRect">
            <a:avLst>
              <a:gd name="adj" fmla="val 5531"/>
            </a:avLst>
          </a:prstGeom>
          <a:solidFill>
            <a:srgbClr val="FFFDF8"/>
          </a:solidFill>
          <a:ln w="6350">
            <a:solidFill>
              <a:srgbClr val="DDD7CA"/>
            </a:solidFill>
            <a:prstDash val="solid"/>
          </a:ln>
        </p:spPr>
      </p:sp>
      <p:sp>
        <p:nvSpPr>
          <p:cNvPr id="8" name="Text 6"/>
          <p:cNvSpPr/>
          <p:nvPr/>
        </p:nvSpPr>
        <p:spPr>
          <a:xfrm>
            <a:off x="4568754" y="1969821"/>
            <a:ext cx="3146116" cy="238743"/>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2A44"/>
                </a:solidFill>
                <a:latin typeface="Arial" pitchFamily="34" charset="0"/>
                <a:ea typeface="Arial" pitchFamily="34" charset="-122"/>
                <a:cs typeface="Arial" pitchFamily="34" charset="-120"/>
              </a:rPr>
              <a:t>稽核與版本核對</a:t>
            </a:r>
            <a:endParaRPr lang="en-US" sz="1400" dirty="0"/>
          </a:p>
        </p:txBody>
      </p:sp>
      <p:sp>
        <p:nvSpPr>
          <p:cNvPr id="9" name="Text 7"/>
          <p:cNvSpPr/>
          <p:nvPr/>
        </p:nvSpPr>
        <p:spPr>
          <a:xfrm>
            <a:off x="4680260" y="2246647"/>
            <a:ext cx="3026990" cy="1168484"/>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證據用短代稱（E1、E2…），引用不存在的證據就重試</a:t>
            </a:r>
            <a:endParaRPr lang="en-US" sz="1200" dirty="0"/>
          </a:p>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未匹配來源的數字只記錄、不修改</a:t>
            </a:r>
            <a:endParaRPr lang="en-US" sz="1200" dirty="0"/>
          </a:p>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每步推理前後核對模型權重指紋；程式被改動就拒絕續跑</a:t>
            </a:r>
            <a:endParaRPr lang="en-US" sz="1200" dirty="0"/>
          </a:p>
        </p:txBody>
      </p:sp>
      <p:sp>
        <p:nvSpPr>
          <p:cNvPr id="10" name="Shape 8"/>
          <p:cNvSpPr/>
          <p:nvPr/>
        </p:nvSpPr>
        <p:spPr>
          <a:xfrm>
            <a:off x="7961822" y="1789956"/>
            <a:ext cx="3414215" cy="1779644"/>
          </a:xfrm>
          <a:prstGeom prst="roundRect">
            <a:avLst>
              <a:gd name="adj" fmla="val 5531"/>
            </a:avLst>
          </a:prstGeom>
          <a:solidFill>
            <a:srgbClr val="FFFDF8"/>
          </a:solidFill>
          <a:ln w="6350">
            <a:solidFill>
              <a:srgbClr val="DDD7CA"/>
            </a:solidFill>
            <a:prstDash val="solid"/>
          </a:ln>
        </p:spPr>
      </p:sp>
      <p:sp>
        <p:nvSpPr>
          <p:cNvPr id="11" name="Text 9"/>
          <p:cNvSpPr/>
          <p:nvPr/>
        </p:nvSpPr>
        <p:spPr>
          <a:xfrm>
            <a:off x="8141688" y="1969821"/>
            <a:ext cx="3146116" cy="238743"/>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2A44"/>
                </a:solidFill>
                <a:latin typeface="Arial" pitchFamily="34" charset="0"/>
                <a:ea typeface="Arial" pitchFamily="34" charset="-122"/>
                <a:cs typeface="Arial" pitchFamily="34" charset="-120"/>
              </a:rPr>
              <a:t>實作挑戰</a:t>
            </a:r>
            <a:endParaRPr lang="en-US" sz="1400" dirty="0"/>
          </a:p>
        </p:txBody>
      </p:sp>
      <p:sp>
        <p:nvSpPr>
          <p:cNvPr id="12" name="Text 10"/>
          <p:cNvSpPr/>
          <p:nvPr/>
        </p:nvSpPr>
        <p:spPr>
          <a:xfrm>
            <a:off x="8253194" y="2246647"/>
            <a:ext cx="3026990" cy="939867"/>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各模型輸出格式與可讀長度不同</a:t>
            </a:r>
            <a:endParaRPr lang="en-US" sz="1200" dirty="0"/>
          </a:p>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呼叫次數相同不等於 token、延遲相同；領域看法須標準化</a:t>
            </a:r>
            <a:endParaRPr lang="en-US" sz="1200" dirty="0"/>
          </a:p>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模型能力組合與裁決偏好造成混淆</a:t>
            </a:r>
            <a:endParaRPr lang="en-US" sz="1200" dirty="0"/>
          </a:p>
        </p:txBody>
      </p:sp>
      <p:sp>
        <p:nvSpPr>
          <p:cNvPr id="13" name="Text 11"/>
          <p:cNvSpPr/>
          <p:nvPr/>
        </p:nvSpPr>
        <p:spPr>
          <a:xfrm>
            <a:off x="812777" y="3725143"/>
            <a:ext cx="10883427" cy="25401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開發順序為資料、研究、決策、回測、統計；每個模組先用模擬資料與小樣本測試，再用少量真實案例試跑，最後才正式實驗。</a:t>
            </a:r>
            <a:endParaRPr lang="en-US" sz="1200" dirty="0"/>
          </a:p>
        </p:txBody>
      </p:sp>
      <p:sp>
        <p:nvSpPr>
          <p:cNvPr id="14" name="Text 12"/>
          <p:cNvSpPr/>
          <p:nvPr/>
        </p:nvSpPr>
        <p:spPr>
          <a:xfrm>
            <a:off x="812777" y="6238236"/>
            <a:ext cx="220297"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77" y="812781"/>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A6B"/>
                </a:solidFill>
                <a:latin typeface="Arial" pitchFamily="34" charset="0"/>
                <a:ea typeface="Arial" pitchFamily="34" charset="-122"/>
                <a:cs typeface="Arial" pitchFamily="34" charset="-120"/>
              </a:rPr>
              <a:t>第五章 結果與討論</a:t>
            </a:r>
            <a:endParaRPr lang="en-US" sz="1300" dirty="0"/>
          </a:p>
        </p:txBody>
      </p:sp>
      <p:sp>
        <p:nvSpPr>
          <p:cNvPr id="3" name="Text 1"/>
          <p:cNvSpPr/>
          <p:nvPr>
            <p:ph type="title"/>
          </p:nvPr>
        </p:nvSpPr>
        <p:spPr>
          <a:xfrm>
            <a:off x="812777" y="1196274"/>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44"/>
                </a:solidFill>
                <a:latin typeface="Georgia" pitchFamily="18" charset="0"/>
                <a:ea typeface="Georgia" pitchFamily="18" charset="-122"/>
                <a:cs typeface="Georgia" pitchFamily="18" charset="-120"/>
              </a:rPr>
              <a:t>RQ1 結果：沒有找到 D 優於 C 的證據</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17" y="1797314"/>
          <a:ext cx="10555895" cy="1983075"/>
        </p:xfrm>
        <a:graphic>
          <a:graphicData uri="http://schemas.openxmlformats.org/drawingml/2006/table">
            <a:tbl>
              <a:tblPr/>
              <a:tblGrid>
                <a:gridCol w="3166768"/>
                <a:gridCol w="1477825"/>
                <a:gridCol w="1688943"/>
                <a:gridCol w="1477825"/>
                <a:gridCol w="1372266"/>
                <a:gridCol w="1372266"/>
              </a:tblGrid>
              <a:tr h="330512">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組別（180 案、60 日、扣成本）</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出手率</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條件準確率</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累積報酬</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最大回撤</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Sharpe</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A 單次判斷</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78.3%</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56.0%</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1.85%</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−1.81%</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0.44</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B 獨立投票</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79.4%</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55.9%</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1.95%</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−1.83%</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0.46</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C 固定立場辯論</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100%</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58.3%</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2.51%</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−1.47%</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0.59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D 立場交換辯論</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100%</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55.0%</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2.11%</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−2.01%</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0.54</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買進持有（同案同期間）</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5.60%</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−1.59%</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1.01</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924283" y="3932758"/>
            <a:ext cx="10764301" cy="711250"/>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D 對 C：準確率差 −3.3 點（McNemar p = 0.21，Holm 0.42）；Sharpe 差 −0.05（Ledoit–Wolf p = 0.80）；180 案只有 16 案方向不同</a:t>
            </a:r>
            <a:endParaRPr lang="en-US" sz="1200" dirty="0"/>
          </a:p>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日期分組 95% 信賴區間：準確率差 [−7.2, +0.6] 點；30／90 日、不計成本等敏感性分析結論相同</a:t>
            </a:r>
            <a:endParaRPr lang="en-US" sz="1200" dirty="0"/>
          </a:p>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未達優越性判準，但不代表兩組一樣好；C、D 準確率也低於「一律看多」的 62.2%</a:t>
            </a:r>
            <a:endParaRPr lang="en-US" sz="1200" dirty="0"/>
          </a:p>
        </p:txBody>
      </p:sp>
      <p:sp>
        <p:nvSpPr>
          <p:cNvPr id="6" name="Text 3"/>
          <p:cNvSpPr/>
          <p:nvPr/>
        </p:nvSpPr>
        <p:spPr>
          <a:xfrm>
            <a:off x="812777" y="6238236"/>
            <a:ext cx="6767798"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14 · qwen3:32b，季度實驗規則 v3-1002.3；2026-10-15 以唯讀快照重算，結果不變</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77" y="812775"/>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A6B"/>
                </a:solidFill>
                <a:latin typeface="Arial" pitchFamily="34" charset="0"/>
                <a:ea typeface="Arial" pitchFamily="34" charset="-122"/>
                <a:cs typeface="Arial" pitchFamily="34" charset="-120"/>
              </a:rPr>
              <a:t>第五章 結果與討論</a:t>
            </a:r>
            <a:endParaRPr lang="en-US" sz="1300" dirty="0"/>
          </a:p>
        </p:txBody>
      </p:sp>
      <p:sp>
        <p:nvSpPr>
          <p:cNvPr id="3" name="Text 1"/>
          <p:cNvSpPr/>
          <p:nvPr>
            <p:ph type="title"/>
          </p:nvPr>
        </p:nvSpPr>
        <p:spPr>
          <a:xfrm>
            <a:off x="812777" y="1196274"/>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44"/>
                </a:solidFill>
                <a:latin typeface="Georgia" pitchFamily="18" charset="0"/>
                <a:ea typeface="Georgia" pitchFamily="18" charset="-122"/>
                <a:cs typeface="Georgia" pitchFamily="18" charset="-120"/>
              </a:rPr>
              <a:t>分歧案例與探索性分析</a:t>
            </a:r>
            <a:endParaRPr lang="en-US" sz="3000" dirty="0"/>
          </a:p>
        </p:txBody>
      </p:sp>
      <p:sp>
        <p:nvSpPr>
          <p:cNvPr id="4" name="Shape 2"/>
          <p:cNvSpPr/>
          <p:nvPr/>
        </p:nvSpPr>
        <p:spPr>
          <a:xfrm>
            <a:off x="815952" y="1789950"/>
            <a:ext cx="5200662" cy="1779644"/>
          </a:xfrm>
          <a:prstGeom prst="roundRect">
            <a:avLst>
              <a:gd name="adj" fmla="val 5531"/>
            </a:avLst>
          </a:prstGeom>
          <a:solidFill>
            <a:srgbClr val="FFFDF8"/>
          </a:solidFill>
          <a:ln w="6350">
            <a:solidFill>
              <a:srgbClr val="DDD7CA"/>
            </a:solidFill>
            <a:prstDash val="solid"/>
          </a:ln>
        </p:spPr>
      </p:sp>
      <p:sp>
        <p:nvSpPr>
          <p:cNvPr id="5" name="Text 3"/>
          <p:cNvSpPr/>
          <p:nvPr/>
        </p:nvSpPr>
        <p:spPr>
          <a:xfrm>
            <a:off x="995819" y="1969821"/>
            <a:ext cx="4986156" cy="238743"/>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2A44"/>
                </a:solidFill>
                <a:latin typeface="Arial" pitchFamily="34" charset="0"/>
                <a:ea typeface="Arial" pitchFamily="34" charset="-122"/>
                <a:cs typeface="Arial" pitchFamily="34" charset="-120"/>
              </a:rPr>
              <a:t>分歧案例（事後挑選、僅描述）</a:t>
            </a:r>
            <a:endParaRPr lang="en-US" sz="1400" dirty="0"/>
          </a:p>
        </p:txBody>
      </p:sp>
      <p:sp>
        <p:nvSpPr>
          <p:cNvPr id="6" name="Text 4"/>
          <p:cNvSpPr/>
          <p:nvPr/>
        </p:nvSpPr>
        <p:spPr>
          <a:xfrm>
            <a:off x="1107325" y="2246647"/>
            <a:ext cx="4867030" cy="1168484"/>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b="1" dirty="0">
                <a:solidFill>
                  <a:srgbClr val="4A5568"/>
                </a:solidFill>
                <a:latin typeface="Arial" pitchFamily="34" charset="0"/>
                <a:ea typeface="Arial" pitchFamily="34" charset="-122"/>
                <a:cs typeface="Arial" pitchFamily="34" charset="-120"/>
              </a:rPr>
              <a:t>INTC 2024-03-31：</a:t>
            </a:r>
            <a:r>
              <a:rPr lang="en-US" sz="1200" dirty="0">
                <a:solidFill>
                  <a:srgbClr val="4A5568"/>
                </a:solidFill>
                <a:latin typeface="Arial" pitchFamily="34" charset="0"/>
                <a:ea typeface="Arial" pitchFamily="34" charset="-122"/>
                <a:cs typeface="Arial" pitchFamily="34" charset="-120"/>
              </a:rPr>
              <a:t>交換輪強調基本面衰退，D 改判賣出；60 日後下跌 30.5%，D 正確</a:t>
            </a:r>
            <a:endParaRPr lang="en-US" sz="1200" dirty="0"/>
          </a:p>
          <a:p>
            <a:pPr algn="l" marL="142494" indent="-142494">
              <a:lnSpc>
                <a:spcPts val="1800"/>
              </a:lnSpc>
              <a:buSzPct val="100000"/>
              <a:buChar char="•"/>
            </a:pPr>
            <a:r>
              <a:rPr lang="en-US" sz="1200" b="1" dirty="0">
                <a:solidFill>
                  <a:srgbClr val="4A5568"/>
                </a:solidFill>
                <a:latin typeface="Arial" pitchFamily="34" charset="0"/>
                <a:ea typeface="Arial" pitchFamily="34" charset="-122"/>
                <a:cs typeface="Arial" pitchFamily="34" charset="-120"/>
              </a:rPr>
              <a:t>AAPL 2023-03-31：</a:t>
            </a:r>
            <a:r>
              <a:rPr lang="en-US" sz="1200" dirty="0">
                <a:solidFill>
                  <a:srgbClr val="4A5568"/>
                </a:solidFill>
                <a:latin typeface="Arial" pitchFamily="34" charset="0"/>
                <a:ea typeface="Arial" pitchFamily="34" charset="-122"/>
                <a:cs typeface="Arial" pitchFamily="34" charset="-120"/>
              </a:rPr>
              <a:t>D 同樣強調基本面衰退而賣出；60 日後上漲 15.3%，D 錯誤</a:t>
            </a:r>
            <a:endParaRPr lang="en-US" sz="1200" dirty="0"/>
          </a:p>
          <a:p>
            <a:pPr algn="l" marL="142494" indent="-142494">
              <a:lnSpc>
                <a:spcPts val="1800"/>
              </a:lnSpc>
              <a:buSzPct val="100000"/>
              <a:buChar char="•"/>
            </a:pPr>
            <a:r>
              <a:rPr lang="en-US" sz="1200" dirty="0">
                <a:solidFill>
                  <a:srgbClr val="4A5568"/>
                </a:solidFill>
                <a:latin typeface="Arial" pitchFamily="34" charset="0"/>
                <a:ea typeface="Arial" pitchFamily="34" charset="-122"/>
                <a:cs typeface="Arial" pitchFamily="34" charset="-120"/>
              </a:rPr>
              <a:t>16 個分歧案中 D 有 12 案判賣出，D 對 5 案、C 對 11 案</a:t>
            </a:r>
            <a:endParaRPr lang="en-US" sz="1200" dirty="0"/>
          </a:p>
        </p:txBody>
      </p:sp>
      <p:sp>
        <p:nvSpPr>
          <p:cNvPr id="7" name="Shape 5"/>
          <p:cNvSpPr/>
          <p:nvPr/>
        </p:nvSpPr>
        <p:spPr>
          <a:xfrm>
            <a:off x="6175334" y="1789950"/>
            <a:ext cx="5200703" cy="1779644"/>
          </a:xfrm>
          <a:prstGeom prst="roundRect">
            <a:avLst>
              <a:gd name="adj" fmla="val 5531"/>
            </a:avLst>
          </a:prstGeom>
          <a:solidFill>
            <a:srgbClr val="FFFDF8"/>
          </a:solidFill>
          <a:ln w="6350">
            <a:solidFill>
              <a:srgbClr val="DDD7CA"/>
            </a:solidFill>
            <a:prstDash val="solid"/>
          </a:ln>
        </p:spPr>
      </p:sp>
      <p:sp>
        <p:nvSpPr>
          <p:cNvPr id="8" name="Text 6"/>
          <p:cNvSpPr/>
          <p:nvPr/>
        </p:nvSpPr>
        <p:spPr>
          <a:xfrm>
            <a:off x="6355200" y="1969821"/>
            <a:ext cx="4986199" cy="238743"/>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F2A44"/>
                </a:solidFill>
                <a:latin typeface="Arial" pitchFamily="34" charset="0"/>
                <a:ea typeface="Arial" pitchFamily="34" charset="-122"/>
                <a:cs typeface="Arial" pitchFamily="34" charset="-120"/>
              </a:rPr>
              <a:t>探索性分析</a:t>
            </a:r>
            <a:endParaRPr lang="en-US" sz="1400" dirty="0"/>
          </a:p>
        </p:txBody>
      </p:sp>
      <p:sp>
        <p:nvSpPr>
          <p:cNvPr id="9" name="Text 7"/>
          <p:cNvSpPr/>
          <p:nvPr/>
        </p:nvSpPr>
        <p:spPr>
          <a:xfrm>
            <a:off x="6466706" y="2246647"/>
            <a:ext cx="4867073" cy="1168484"/>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b="1" dirty="0">
                <a:solidFill>
                  <a:srgbClr val="4A5568"/>
                </a:solidFill>
                <a:latin typeface="Arial" pitchFamily="34" charset="0"/>
                <a:ea typeface="Arial" pitchFamily="34" charset="-122"/>
                <a:cs typeface="Arial" pitchFamily="34" charset="-120"/>
              </a:rPr>
              <a:t>Gemini 3 Flash 同批重跑：</a:t>
            </a:r>
            <a:r>
              <a:rPr lang="en-US" sz="1200" dirty="0">
                <a:solidFill>
                  <a:srgbClr val="4A5568"/>
                </a:solidFill>
                <a:latin typeface="Arial" pitchFamily="34" charset="0"/>
                <a:ea typeface="Arial" pitchFamily="34" charset="-122"/>
                <a:cs typeface="Arial" pitchFamily="34" charset="-120"/>
              </a:rPr>
              <a:t>D 56.1% 對 C 57.8%，方向與 qwen 一致；屬同一模型設定，不是 RQ2</a:t>
            </a:r>
            <a:endParaRPr lang="en-US" sz="1200" dirty="0"/>
          </a:p>
          <a:p>
            <a:pPr algn="l" marL="142494" indent="-142494">
              <a:lnSpc>
                <a:spcPts val="1800"/>
              </a:lnSpc>
              <a:buSzPct val="100000"/>
              <a:buChar char="•"/>
            </a:pPr>
            <a:r>
              <a:rPr lang="en-US" sz="1200" b="1" dirty="0">
                <a:solidFill>
                  <a:srgbClr val="4A5568"/>
                </a:solidFill>
                <a:latin typeface="Arial" pitchFamily="34" charset="0"/>
                <a:ea typeface="Arial" pitchFamily="34" charset="-122"/>
                <a:cs typeface="Arial" pitchFamily="34" charset="-120"/>
              </a:rPr>
              <a:t>空頭季：</a:t>
            </a:r>
            <a:r>
              <a:rPr lang="en-US" sz="1200" dirty="0">
                <a:solidFill>
                  <a:srgbClr val="4A5568"/>
                </a:solidFill>
                <a:latin typeface="Arial" pitchFamily="34" charset="0"/>
                <a:ea typeface="Arial" pitchFamily="34" charset="-122"/>
                <a:cs typeface="Arial" pitchFamily="34" charset="-120"/>
              </a:rPr>
              <a:t>D 的準確率也沒有高於 C，「D 偏空在空頭較佳」的推測未獲支持</a:t>
            </a:r>
            <a:endParaRPr lang="en-US" sz="1200" dirty="0"/>
          </a:p>
          <a:p>
            <a:pPr algn="l" marL="142494" indent="-142494">
              <a:lnSpc>
                <a:spcPts val="1800"/>
              </a:lnSpc>
              <a:buSzPct val="100000"/>
              <a:buChar char="•"/>
            </a:pPr>
            <a:r>
              <a:rPr lang="en-US" sz="1200" b="1" dirty="0">
                <a:solidFill>
                  <a:srgbClr val="4A5568"/>
                </a:solidFill>
                <a:latin typeface="Arial" pitchFamily="34" charset="0"/>
                <a:ea typeface="Arial" pitchFamily="34" charset="-122"/>
                <a:cs typeface="Arial" pitchFamily="34" charset="-120"/>
              </a:rPr>
              <a:t>記憶探針：</a:t>
            </a:r>
            <a:r>
              <a:rPr lang="en-US" sz="1200" dirty="0">
                <a:solidFill>
                  <a:srgbClr val="4A5568"/>
                </a:solidFill>
                <a:latin typeface="Arial" pitchFamily="34" charset="0"/>
                <a:ea typeface="Arial" pitchFamily="34" charset="-122"/>
                <a:cs typeface="Arial" pitchFamily="34" charset="-120"/>
              </a:rPr>
              <a:t>無資料回想各年皆未高於多數方向基準；匿名辨識 6/18</a:t>
            </a:r>
            <a:endParaRPr lang="en-US" sz="1200" dirty="0"/>
          </a:p>
        </p:txBody>
      </p:sp>
      <p:sp>
        <p:nvSpPr>
          <p:cNvPr id="10" name="Text 8"/>
          <p:cNvSpPr/>
          <p:nvPr/>
        </p:nvSpPr>
        <p:spPr>
          <a:xfrm>
            <a:off x="812777" y="3725143"/>
            <a:ext cx="10883427" cy="25401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交換輪確實較常強調反面證據、決策較常轉為看空，但沒有轉化成更準確的決策；少數案例不足以確認因果。</a:t>
            </a:r>
            <a:endParaRPr lang="en-US" sz="1200" dirty="0"/>
          </a:p>
        </p:txBody>
      </p:sp>
      <p:sp>
        <p:nvSpPr>
          <p:cNvPr id="11" name="Text 9"/>
          <p:cNvSpPr/>
          <p:nvPr/>
        </p:nvSpPr>
        <p:spPr>
          <a:xfrm>
            <a:off x="812777" y="6238236"/>
            <a:ext cx="220297"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777" y="812775"/>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7A6B"/>
                </a:solidFill>
                <a:latin typeface="Arial" pitchFamily="34" charset="0"/>
                <a:ea typeface="Arial" pitchFamily="34" charset="-122"/>
                <a:cs typeface="Arial" pitchFamily="34" charset="-120"/>
              </a:rPr>
              <a:t>第五章 結果與討論</a:t>
            </a:r>
            <a:endParaRPr lang="en-US" sz="1300" dirty="0"/>
          </a:p>
        </p:txBody>
      </p:sp>
      <p:sp>
        <p:nvSpPr>
          <p:cNvPr id="3" name="Text 1"/>
          <p:cNvSpPr/>
          <p:nvPr>
            <p:ph type="title"/>
          </p:nvPr>
        </p:nvSpPr>
        <p:spPr>
          <a:xfrm>
            <a:off x="812777" y="1196274"/>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44"/>
                </a:solidFill>
                <a:latin typeface="Georgia" pitchFamily="18" charset="0"/>
                <a:ea typeface="Georgia" pitchFamily="18" charset="-122"/>
                <a:cs typeface="Georgia" pitchFamily="18" charset="-120"/>
              </a:rPr>
              <a:t>研究限制</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17" y="1797314"/>
          <a:ext cx="10555895" cy="1865905"/>
        </p:xfrm>
        <a:graphic>
          <a:graphicData uri="http://schemas.openxmlformats.org/drawingml/2006/table">
            <a:tbl>
              <a:tblPr/>
              <a:tblGrid>
                <a:gridCol w="2111179"/>
                <a:gridCol w="8444716"/>
              </a:tblGrid>
              <a:tr h="330512">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面向</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F2A44"/>
                          </a:solidFill>
                          <a:latin typeface="Arial" pitchFamily="34" charset="0"/>
                          <a:ea typeface="Arial" pitchFamily="34" charset="-122"/>
                          <a:cs typeface="Arial" pitchFamily="34" charset="-120"/>
                        </a:rPr>
                        <a:t>限制</a:t>
                      </a:r>
                      <a:endParaRPr lang="en-US" sz="1200" dirty="0">
                        <a:latin typeface="Arial" charset="0"/>
                        <a:ea typeface="Arial" charset="0"/>
                        <a:cs typeface="Arial"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資料有效性</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九檔以資料取得容易為主，未含下市公司，有存活與事後選樣偏誤；匿名化後仍有數值、日期與產品線索</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實驗有效性</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D 同時含立場交換、隔離對手、強制引用與重試，估計的是整套流程；C、D 必須下注且有記憶，A、B 則否</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r h="330512">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統計有效性</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180 案共用 20 個分析日、持有期重疊；主要比較只有 16 個不一致案例；未事前訂定等效界線</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855">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外部有效性與可重現性</a:t>
                      </a:r>
                      <a:endParaRPr lang="en-US" sz="1200" dirty="0">
                        <a:latin typeface="Arial" charset="0"/>
                        <a:ea typeface="Arial" charset="0"/>
                        <a:cs typeface="Arial"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indent="0" marL="0">
                        <a:lnSpc>
                          <a:spcPts val="1680"/>
                        </a:lnSpc>
                        <a:buNone/>
                      </a:pPr>
                      <a:r>
                        <a:rPr lang="en-US" sz="1200" dirty="0">
                          <a:solidFill>
                            <a:srgbClr val="1F2A44"/>
                          </a:solidFill>
                          <a:latin typeface="Arial" pitchFamily="34" charset="0"/>
                          <a:ea typeface="Arial" pitchFamily="34" charset="-122"/>
                          <a:cs typeface="Arial" pitchFamily="34" charset="-120"/>
                        </a:rPr>
                        <a:t>結果限於九檔美國大型股、2021–2025 與指定模型；同批樣本曾用於試跑與規則調整，屬回溯比較；FinBERT 版本、Gemini 呼叫設定與行情調整版本紀錄不完整</a:t>
                      </a:r>
                      <a:endParaRPr lang="en-US" sz="1200" dirty="0">
                        <a:latin typeface="Arial" charset="0"/>
                        <a:ea typeface="Arial" charset="0"/>
                        <a:cs typeface="Arial" charset="0"/>
                      </a:endParaRPr>
                    </a:p>
                  </a:txBody>
                  <a:tcPr marL="53340" marR="53340" marT="53340" marB="53340" anchor="t">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r>
            </a:tbl>
          </a:graphicData>
        </a:graphic>
      </p:graphicFrame>
      <p:sp>
        <p:nvSpPr>
          <p:cNvPr id="5" name="Text 2"/>
          <p:cNvSpPr/>
          <p:nvPr/>
        </p:nvSpPr>
        <p:spPr>
          <a:xfrm>
            <a:off x="812777" y="3815587"/>
            <a:ext cx="10883427" cy="25401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Arial" pitchFamily="34" charset="0"/>
                <a:ea typeface="Arial" pitchFamily="34" charset="-122"/>
                <a:cs typeface="Arial" pitchFamily="34" charset="-120"/>
              </a:rPr>
              <a:t>已核對：登記時間與協議雜湊、180 案資料雜湊、3,960 筆原始決策、配對日報酬重算、6,804 筆記憶的時間邊界。</a:t>
            </a:r>
            <a:endParaRPr lang="en-US" sz="1200" dirty="0"/>
          </a:p>
        </p:txBody>
      </p:sp>
      <p:sp>
        <p:nvSpPr>
          <p:cNvPr id="6" name="Text 3"/>
          <p:cNvSpPr/>
          <p:nvPr/>
        </p:nvSpPr>
        <p:spPr>
          <a:xfrm>
            <a:off x="812777" y="6238236"/>
            <a:ext cx="220297"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2A44"/>
        </a:solidFill>
      </p:bgPr>
    </p:bg>
    <p:spTree>
      <p:nvGrpSpPr>
        <p:cNvPr id="1" name=""/>
        <p:cNvGrpSpPr/>
        <p:nvPr/>
      </p:nvGrpSpPr>
      <p:grpSpPr>
        <a:xfrm>
          <a:off x="0" y="0"/>
          <a:ext cx="0" cy="0"/>
          <a:chOff x="0" y="0"/>
          <a:chExt cx="0" cy="0"/>
        </a:xfrm>
      </p:grpSpPr>
      <p:sp>
        <p:nvSpPr>
          <p:cNvPr id="2" name="Text 0"/>
          <p:cNvSpPr/>
          <p:nvPr/>
        </p:nvSpPr>
        <p:spPr>
          <a:xfrm>
            <a:off x="812777" y="812775"/>
            <a:ext cx="10883427" cy="256528"/>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7FD1C1"/>
                </a:solidFill>
                <a:latin typeface="Arial" pitchFamily="34" charset="0"/>
                <a:ea typeface="Arial" pitchFamily="34" charset="-122"/>
                <a:cs typeface="Arial" pitchFamily="34" charset="-120"/>
              </a:rPr>
              <a:t>第六章 結論與建議</a:t>
            </a:r>
            <a:endParaRPr lang="en-US" sz="1300" dirty="0"/>
          </a:p>
        </p:txBody>
      </p:sp>
      <p:sp>
        <p:nvSpPr>
          <p:cNvPr id="3" name="Text 1"/>
          <p:cNvSpPr/>
          <p:nvPr>
            <p:ph type="title"/>
          </p:nvPr>
        </p:nvSpPr>
        <p:spPr>
          <a:xfrm>
            <a:off x="812777" y="1221680"/>
            <a:ext cx="10883427" cy="463531"/>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6F4EF"/>
                </a:solidFill>
                <a:latin typeface="Georgia" pitchFamily="18" charset="0"/>
                <a:ea typeface="Georgia" pitchFamily="18" charset="-122"/>
                <a:cs typeface="Georgia" pitchFamily="18" charset="-120"/>
              </a:rPr>
              <a:t>結論、應用與未來展望</a:t>
            </a:r>
            <a:endParaRPr lang="en-US" sz="3000" dirty="0"/>
          </a:p>
        </p:txBody>
      </p:sp>
      <p:sp>
        <p:nvSpPr>
          <p:cNvPr id="4" name="Shape 2"/>
          <p:cNvSpPr/>
          <p:nvPr/>
        </p:nvSpPr>
        <p:spPr>
          <a:xfrm>
            <a:off x="812777" y="1837581"/>
            <a:ext cx="3420565" cy="1812343"/>
          </a:xfrm>
          <a:prstGeom prst="roundRect">
            <a:avLst>
              <a:gd name="adj" fmla="val 5606"/>
            </a:avLst>
          </a:prstGeom>
          <a:solidFill>
            <a:srgbClr val="2A3757"/>
          </a:solidFill>
          <a:ln/>
        </p:spPr>
      </p:sp>
      <p:sp>
        <p:nvSpPr>
          <p:cNvPr id="5" name="Shape 3"/>
          <p:cNvSpPr/>
          <p:nvPr/>
        </p:nvSpPr>
        <p:spPr>
          <a:xfrm>
            <a:off x="812777" y="1837581"/>
            <a:ext cx="3420565" cy="1812343"/>
          </a:xfrm>
          <a:custGeom>
            <a:avLst/>
            <a:gdLst/>
            <a:ahLst/>
            <a:cxnLst/>
            <a:rect l="l" t="t" r="r" b="b"/>
            <a:pathLst>
              <a:path w="3420565" h="1812343">
                <a:moveTo>
                  <a:pt x="0" y="101600"/>
                </a:moveTo>
                <a:lnTo>
                  <a:pt x="0" y="101600"/>
                </a:lnTo>
                <a:arcTo hR="101600" wR="101600" stAng="10800000" swAng="5400000"/>
                <a:lnTo>
                  <a:pt x="3318965" y="0"/>
                </a:lnTo>
                <a:arcTo hR="101600" wR="101600" stAng="16200000" swAng="5400000"/>
                <a:lnTo>
                  <a:pt x="3420565" y="101600"/>
                </a:lnTo>
                <a:arcTo hR="63500" wR="101600" stAng="0" swAng="-5400000"/>
                <a:lnTo>
                  <a:pt x="101600" y="38100"/>
                </a:lnTo>
                <a:arcTo hR="63500" wR="101600" stAng="16200000" swAng="-5400000"/>
                <a:close/>
              </a:path>
            </a:pathLst>
          </a:custGeom>
          <a:solidFill>
            <a:srgbClr val="7FD1C1"/>
          </a:solidFill>
          <a:ln/>
        </p:spPr>
      </p:sp>
      <p:sp>
        <p:nvSpPr>
          <p:cNvPr id="6" name="Text 4"/>
          <p:cNvSpPr/>
          <p:nvPr/>
        </p:nvSpPr>
        <p:spPr>
          <a:xfrm>
            <a:off x="990549" y="2052241"/>
            <a:ext cx="3156972" cy="238743"/>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4EF"/>
                </a:solidFill>
                <a:latin typeface="Arial" pitchFamily="34" charset="0"/>
                <a:ea typeface="Arial" pitchFamily="34" charset="-122"/>
                <a:cs typeface="Arial" pitchFamily="34" charset="-120"/>
              </a:rPr>
              <a:t>研究發現</a:t>
            </a:r>
            <a:endParaRPr lang="en-US" sz="1400" dirty="0"/>
          </a:p>
        </p:txBody>
      </p:sp>
      <p:sp>
        <p:nvSpPr>
          <p:cNvPr id="7" name="Text 5"/>
          <p:cNvSpPr/>
          <p:nvPr/>
        </p:nvSpPr>
        <p:spPr>
          <a:xfrm>
            <a:off x="1102055" y="2329061"/>
            <a:ext cx="3037846" cy="1168484"/>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C9D2E3"/>
                </a:solidFill>
                <a:latin typeface="Arial" pitchFamily="34" charset="0"/>
                <a:ea typeface="Arial" pitchFamily="34" charset="-122"/>
                <a:cs typeface="Arial" pitchFamily="34" charset="-120"/>
              </a:rPr>
              <a:t>資料不支持整套 D 流程優於 C；不代表兩者一樣好</a:t>
            </a:r>
            <a:endParaRPr lang="en-US" sz="1200" dirty="0"/>
          </a:p>
          <a:p>
            <a:pPr algn="l" marL="142494" indent="-142494">
              <a:lnSpc>
                <a:spcPts val="1800"/>
              </a:lnSpc>
              <a:buSzPct val="100000"/>
              <a:buChar char="•"/>
            </a:pPr>
            <a:r>
              <a:rPr lang="en-US" sz="1200" dirty="0">
                <a:solidFill>
                  <a:srgbClr val="C9D2E3"/>
                </a:solidFill>
                <a:latin typeface="Arial" pitchFamily="34" charset="0"/>
                <a:ea typeface="Arial" pitchFamily="34" charset="-122"/>
                <a:cs typeface="Arial" pitchFamily="34" charset="-120"/>
              </a:rPr>
              <a:t>C、D 準確率低於「一律看多」，四組 Sharpe 低於買進持有</a:t>
            </a:r>
            <a:endParaRPr lang="en-US" sz="1200" dirty="0"/>
          </a:p>
          <a:p>
            <a:pPr algn="l" marL="142494" indent="-142494">
              <a:lnSpc>
                <a:spcPts val="1800"/>
              </a:lnSpc>
              <a:buSzPct val="100000"/>
              <a:buChar char="•"/>
            </a:pPr>
            <a:r>
              <a:rPr lang="en-US" sz="1200" dirty="0">
                <a:solidFill>
                  <a:srgbClr val="C9D2E3"/>
                </a:solidFill>
                <a:latin typeface="Arial" pitchFamily="34" charset="0"/>
                <a:ea typeface="Arial" pitchFamily="34" charset="-122"/>
                <a:cs typeface="Arial" pitchFamily="34" charset="-120"/>
              </a:rPr>
              <a:t>RQ2、RQ3 檢驗兩個候選假說，尚無結果</a:t>
            </a:r>
            <a:endParaRPr lang="en-US" sz="1200" dirty="0"/>
          </a:p>
        </p:txBody>
      </p:sp>
      <p:sp>
        <p:nvSpPr>
          <p:cNvPr id="8" name="Shape 6"/>
          <p:cNvSpPr/>
          <p:nvPr/>
        </p:nvSpPr>
        <p:spPr>
          <a:xfrm>
            <a:off x="4385712" y="1837581"/>
            <a:ext cx="3420565" cy="1812343"/>
          </a:xfrm>
          <a:prstGeom prst="roundRect">
            <a:avLst>
              <a:gd name="adj" fmla="val 5606"/>
            </a:avLst>
          </a:prstGeom>
          <a:solidFill>
            <a:srgbClr val="2A3757"/>
          </a:solidFill>
          <a:ln/>
        </p:spPr>
      </p:sp>
      <p:sp>
        <p:nvSpPr>
          <p:cNvPr id="9" name="Shape 7"/>
          <p:cNvSpPr/>
          <p:nvPr/>
        </p:nvSpPr>
        <p:spPr>
          <a:xfrm>
            <a:off x="4385712" y="1837581"/>
            <a:ext cx="3420565" cy="1812343"/>
          </a:xfrm>
          <a:custGeom>
            <a:avLst/>
            <a:gdLst/>
            <a:ahLst/>
            <a:cxnLst/>
            <a:rect l="l" t="t" r="r" b="b"/>
            <a:pathLst>
              <a:path w="3420565" h="1812343">
                <a:moveTo>
                  <a:pt x="0" y="101600"/>
                </a:moveTo>
                <a:lnTo>
                  <a:pt x="0" y="101600"/>
                </a:lnTo>
                <a:arcTo hR="101600" wR="101600" stAng="10800000" swAng="5400000"/>
                <a:lnTo>
                  <a:pt x="3318965" y="0"/>
                </a:lnTo>
                <a:arcTo hR="101600" wR="101600" stAng="16200000" swAng="5400000"/>
                <a:lnTo>
                  <a:pt x="3420565" y="101600"/>
                </a:lnTo>
                <a:arcTo hR="63500" wR="101600" stAng="0" swAng="-5400000"/>
                <a:lnTo>
                  <a:pt x="101600" y="38100"/>
                </a:lnTo>
                <a:arcTo hR="63500" wR="101600" stAng="16200000" swAng="-5400000"/>
                <a:close/>
              </a:path>
            </a:pathLst>
          </a:custGeom>
          <a:solidFill>
            <a:srgbClr val="7FD1C1"/>
          </a:solidFill>
          <a:ln/>
        </p:spPr>
      </p:sp>
      <p:sp>
        <p:nvSpPr>
          <p:cNvPr id="10" name="Text 8"/>
          <p:cNvSpPr/>
          <p:nvPr/>
        </p:nvSpPr>
        <p:spPr>
          <a:xfrm>
            <a:off x="4563484" y="2052241"/>
            <a:ext cx="3156972" cy="238743"/>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4EF"/>
                </a:solidFill>
                <a:latin typeface="Arial" pitchFamily="34" charset="0"/>
                <a:ea typeface="Arial" pitchFamily="34" charset="-122"/>
                <a:cs typeface="Arial" pitchFamily="34" charset="-120"/>
              </a:rPr>
              <a:t>應用與價值</a:t>
            </a:r>
            <a:endParaRPr lang="en-US" sz="1400" dirty="0"/>
          </a:p>
        </p:txBody>
      </p:sp>
      <p:sp>
        <p:nvSpPr>
          <p:cNvPr id="11" name="Text 9"/>
          <p:cNvSpPr/>
          <p:nvPr/>
        </p:nvSpPr>
        <p:spPr>
          <a:xfrm>
            <a:off x="4674990" y="2329061"/>
            <a:ext cx="3037846" cy="939867"/>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C9D2E3"/>
                </a:solidFill>
                <a:latin typeface="Arial" pitchFamily="34" charset="0"/>
                <a:ea typeface="Arial" pitchFamily="34" charset="-122"/>
                <a:cs typeface="Arial" pitchFamily="34" charset="-120"/>
              </a:rPr>
              <a:t>可追溯的研究流程原型：資料、論證、裁決理由與回測在同一流程</a:t>
            </a:r>
            <a:endParaRPr lang="en-US" sz="1200" dirty="0"/>
          </a:p>
          <a:p>
            <a:pPr algn="l" marL="142494" indent="-142494">
              <a:lnSpc>
                <a:spcPts val="1800"/>
              </a:lnSpc>
              <a:buSzPct val="100000"/>
              <a:buChar char="•"/>
            </a:pPr>
            <a:r>
              <a:rPr lang="en-US" sz="1200" dirty="0">
                <a:solidFill>
                  <a:srgbClr val="C9D2E3"/>
                </a:solidFill>
                <a:latin typeface="Arial" pitchFamily="34" charset="0"/>
                <a:ea typeface="Arial" pitchFamily="34" charset="-122"/>
                <a:cs typeface="Arial" pitchFamily="34" charset="-120"/>
              </a:rPr>
              <a:t>以呼叫次數對齊、登記、匿名化與版本鎖定，讓不同設計可以公平比較</a:t>
            </a:r>
            <a:endParaRPr lang="en-US" sz="1200" dirty="0"/>
          </a:p>
        </p:txBody>
      </p:sp>
      <p:sp>
        <p:nvSpPr>
          <p:cNvPr id="12" name="Shape 10"/>
          <p:cNvSpPr/>
          <p:nvPr/>
        </p:nvSpPr>
        <p:spPr>
          <a:xfrm>
            <a:off x="7958647" y="1837581"/>
            <a:ext cx="3420565" cy="1812343"/>
          </a:xfrm>
          <a:prstGeom prst="roundRect">
            <a:avLst>
              <a:gd name="adj" fmla="val 5606"/>
            </a:avLst>
          </a:prstGeom>
          <a:solidFill>
            <a:srgbClr val="2A3757"/>
          </a:solidFill>
          <a:ln/>
        </p:spPr>
      </p:sp>
      <p:sp>
        <p:nvSpPr>
          <p:cNvPr id="13" name="Shape 11"/>
          <p:cNvSpPr/>
          <p:nvPr/>
        </p:nvSpPr>
        <p:spPr>
          <a:xfrm>
            <a:off x="7958647" y="1837581"/>
            <a:ext cx="3420565" cy="1812343"/>
          </a:xfrm>
          <a:custGeom>
            <a:avLst/>
            <a:gdLst/>
            <a:ahLst/>
            <a:cxnLst/>
            <a:rect l="l" t="t" r="r" b="b"/>
            <a:pathLst>
              <a:path w="3420565" h="1812343">
                <a:moveTo>
                  <a:pt x="0" y="101600"/>
                </a:moveTo>
                <a:lnTo>
                  <a:pt x="0" y="101600"/>
                </a:lnTo>
                <a:arcTo hR="101600" wR="101600" stAng="10800000" swAng="5400000"/>
                <a:lnTo>
                  <a:pt x="3318965" y="0"/>
                </a:lnTo>
                <a:arcTo hR="101600" wR="101600" stAng="16200000" swAng="5400000"/>
                <a:lnTo>
                  <a:pt x="3420565" y="101600"/>
                </a:lnTo>
                <a:arcTo hR="63500" wR="101600" stAng="0" swAng="-5400000"/>
                <a:lnTo>
                  <a:pt x="101600" y="38100"/>
                </a:lnTo>
                <a:arcTo hR="63500" wR="101600" stAng="16200000" swAng="-5400000"/>
                <a:close/>
              </a:path>
            </a:pathLst>
          </a:custGeom>
          <a:solidFill>
            <a:srgbClr val="7FD1C1"/>
          </a:solidFill>
          <a:ln/>
        </p:spPr>
      </p:sp>
      <p:sp>
        <p:nvSpPr>
          <p:cNvPr id="14" name="Text 12"/>
          <p:cNvSpPr/>
          <p:nvPr/>
        </p:nvSpPr>
        <p:spPr>
          <a:xfrm>
            <a:off x="8136419" y="2052241"/>
            <a:ext cx="3156972" cy="238743"/>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4EF"/>
                </a:solidFill>
                <a:latin typeface="Arial" pitchFamily="34" charset="0"/>
                <a:ea typeface="Arial" pitchFamily="34" charset="-122"/>
                <a:cs typeface="Arial" pitchFamily="34" charset="-120"/>
              </a:rPr>
              <a:t>未來展望</a:t>
            </a:r>
            <a:endParaRPr lang="en-US" sz="1400" dirty="0"/>
          </a:p>
        </p:txBody>
      </p:sp>
      <p:sp>
        <p:nvSpPr>
          <p:cNvPr id="15" name="Text 13"/>
          <p:cNvSpPr/>
          <p:nvPr/>
        </p:nvSpPr>
        <p:spPr>
          <a:xfrm>
            <a:off x="8247925" y="2329061"/>
            <a:ext cx="3037846" cy="1168484"/>
          </a:xfrm>
          <a:prstGeom prst="rect">
            <a:avLst/>
          </a:prstGeom>
          <a:noFill/>
          <a:ln/>
        </p:spPr>
        <p:txBody>
          <a:bodyPr wrap="square" lIns="0" tIns="0" rIns="0" bIns="0" rtlCol="0" anchor="t">
            <a:normAutofit/>
          </a:bodyPr>
          <a:lstStyle/>
          <a:p>
            <a:pPr algn="l" marL="142494" indent="-142494">
              <a:lnSpc>
                <a:spcPts val="1800"/>
              </a:lnSpc>
              <a:buSzPct val="100000"/>
              <a:buChar char="•"/>
            </a:pPr>
            <a:r>
              <a:rPr lang="en-US" sz="1200" dirty="0">
                <a:solidFill>
                  <a:srgbClr val="C9D2E3"/>
                </a:solidFill>
                <a:latin typeface="Arial" pitchFamily="34" charset="0"/>
                <a:ea typeface="Arial" pitchFamily="34" charset="-122"/>
                <a:cs typeface="Arial" pitchFamily="34" charset="-120"/>
              </a:rPr>
              <a:t>每月／20 日的時間尺度</a:t>
            </a:r>
            <a:endParaRPr lang="en-US" sz="1200" dirty="0"/>
          </a:p>
          <a:p>
            <a:pPr algn="l" marL="142494" indent="-142494">
              <a:lnSpc>
                <a:spcPts val="1800"/>
              </a:lnSpc>
              <a:buSzPct val="100000"/>
              <a:buChar char="•"/>
            </a:pPr>
            <a:r>
              <a:rPr lang="en-US" sz="1200" dirty="0">
                <a:solidFill>
                  <a:srgbClr val="C9D2E3"/>
                </a:solidFill>
                <a:latin typeface="Arial" pitchFamily="34" charset="0"/>
                <a:ea typeface="Arial" pitchFamily="34" charset="-122"/>
                <a:cs typeface="Arial" pitchFamily="34" charset="-120"/>
              </a:rPr>
              <a:t>更多模型、動態路由、領域加權</a:t>
            </a:r>
            <a:endParaRPr lang="en-US" sz="1200" dirty="0"/>
          </a:p>
          <a:p>
            <a:pPr algn="l" marL="142494" indent="-142494">
              <a:lnSpc>
                <a:spcPts val="1800"/>
              </a:lnSpc>
              <a:buSzPct val="100000"/>
              <a:buChar char="•"/>
            </a:pPr>
            <a:r>
              <a:rPr lang="en-US" sz="1200" dirty="0">
                <a:solidFill>
                  <a:srgbClr val="C9D2E3"/>
                </a:solidFill>
                <a:latin typeface="Arial" pitchFamily="34" charset="0"/>
                <a:ea typeface="Arial" pitchFamily="34" charset="-122"/>
                <a:cs typeface="Arial" pitchFamily="34" charset="-120"/>
              </a:rPr>
              <a:t>只讀自己但不換立場的消融；C／C′ 多種子重跑</a:t>
            </a:r>
            <a:endParaRPr lang="en-US" sz="1200" dirty="0"/>
          </a:p>
          <a:p>
            <a:pPr algn="l" marL="142494" indent="-142494">
              <a:lnSpc>
                <a:spcPts val="1800"/>
              </a:lnSpc>
              <a:buSzPct val="100000"/>
              <a:buChar char="•"/>
            </a:pPr>
            <a:r>
              <a:rPr lang="en-US" sz="1200" dirty="0">
                <a:solidFill>
                  <a:srgbClr val="C9D2E3"/>
                </a:solidFill>
                <a:latin typeface="Arial" pitchFamily="34" charset="0"/>
                <a:ea typeface="Arial" pitchFamily="34" charset="-122"/>
                <a:cs typeface="Arial" pitchFamily="34" charset="-120"/>
              </a:rPr>
              <a:t>新期間或新標的的樣本外檢驗</a:t>
            </a:r>
            <a:endParaRPr lang="en-US" sz="1200" dirty="0"/>
          </a:p>
        </p:txBody>
      </p:sp>
      <p:sp>
        <p:nvSpPr>
          <p:cNvPr id="16" name="Text 14"/>
          <p:cNvSpPr/>
          <p:nvPr/>
        </p:nvSpPr>
        <p:spPr>
          <a:xfrm>
            <a:off x="812777" y="6238230"/>
            <a:ext cx="4754290" cy="23874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BE"/>
                </a:solidFill>
                <a:latin typeface="Arial" pitchFamily="34" charset="0"/>
                <a:ea typeface="Arial" pitchFamily="34" charset="-122"/>
                <a:cs typeface="Arial" pitchFamily="34" charset="-120"/>
              </a:rPr>
              <a:t>17 · 本研究僅供學術研究與教學使用，不構成任何投資建議</a:t>
            </a:r>
            <a:endParaRPr lang="en-US" sz="1200" dirty="0"/>
          </a:p>
        </p:txBody>
      </p:sp>
    </p:spTree>
  </p:cSld>
  <p:clrMapOvr>
    <a:masterClrMapping/>
  </p:clrMapOvr>
</p:sld>
</file>

<file path=ppt/theme/theme1.xml><?xml version="1.0" encoding="utf-8"?>
<a:theme xmlns:a="http://schemas.openxmlformats.org/drawingml/2006/main" name="多代理人立場交換辯論應用於投資決策">
  <a:themeElements>
    <a:clrScheme name="多代理人立場交換辯論應用於投資決策">
      <a:dk1>
        <a:srgbClr val="1F2A44"/>
      </a:dk1>
      <a:lt1>
        <a:srgbClr val="F6F4EF"/>
      </a:lt1>
      <a:dk2>
        <a:srgbClr val="555D6F"/>
      </a:dk2>
      <a:lt2>
        <a:srgbClr val="E1E0DE"/>
      </a:lt2>
      <a:accent1>
        <a:srgbClr val="0F7A6B"/>
      </a:accent1>
      <a:accent2>
        <a:srgbClr val="7FD1C1"/>
      </a:accent2>
      <a:accent3>
        <a:srgbClr val="4A5568"/>
      </a:accent3>
      <a:accent4>
        <a:srgbClr val="6B7280"/>
      </a:accent4>
      <a:accent5>
        <a:srgbClr val="C9D2E3"/>
      </a:accent5>
      <a:accent6>
        <a:srgbClr val="9AA6BE"/>
      </a:accent6>
      <a:hlink>
        <a:srgbClr val="0563C1"/>
      </a:hlink>
      <a:folHlink>
        <a:srgbClr val="954F72"/>
      </a:folHlink>
    </a:clrScheme>
    <a:fontScheme name="多代理人立場交換辯論應用於投資決策">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多代理人立場交換辯論應用於投資決策</dc:title>
  <dc:subject/>
  <dc:creator/>
  <cp:lastModifiedBy/>
  <cp:revision>1</cp:revision>
  <dcterms:created xsi:type="dcterms:W3CDTF">2026-10-19T01:11:27Z</dcterms:created>
  <dcterms:modified xsi:type="dcterms:W3CDTF">2026-10-19T01:11:27Z</dcterms:modified>
</cp:coreProperties>
</file>